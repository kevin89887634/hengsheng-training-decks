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A0C12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Hengsheng Group Inc.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事业机会说明会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468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0A5FA"/>
                </a:solidFill>
              </a:rPr>
              <a:t>一家用 AI 重构保险经纪生态的科技平台 · 加州尔湾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战略合作承运商矩阵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52044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MetLife · Chubb · Cigna · AIG · Allianz · Prudential · Transamerica · Nationwide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5440680"/>
            <a:ext cx="3657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5577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2026 年 8 月 22 日（周六）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5943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10:30 LA Time · Zoom 线上会议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0" y="57607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Zoom ID: 740 582 6214  ·  Passcode: 149455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6080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A5FA"/>
                </a:solidFill>
              </a:rPr>
              <a:t>链接：https://tinyurl.com/Hengsheng-Zoom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Hengsheng Group · 事业机会说明会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55680" y="228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目录 / Contents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今天讲什么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行业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21214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美国保险市场真实规模 + 华人机会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0" y="1965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页 3-5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423160"/>
            <a:ext cx="11183112" cy="9144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4203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54480" y="25877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平台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54480" y="2834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恒晟是一家什么样的公司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0" y="26791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页 6-9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136392"/>
            <a:ext cx="11183112" cy="9144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255264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554480" y="33009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产品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54480" y="3547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8 家承运商 + 4 大 AI 工具硬实力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0" y="339242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页 10-13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849624"/>
            <a:ext cx="11183112" cy="9144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968496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554480" y="40142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合作模式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54480" y="4261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你与恒晟的关系怎么设计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0" y="410565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页 14-17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4562856"/>
            <a:ext cx="11183112" cy="9144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68172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05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554480" y="4727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未来前景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554480" y="49743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从保险经纪公司到金融科技平台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515600" y="48188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页 18-19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" y="5276088"/>
            <a:ext cx="11183112" cy="9144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53949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06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1554480" y="5440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答疑 + 入会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554480" y="56875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三步加入恒晟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515600" y="5532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页 20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" y="5989320"/>
            <a:ext cx="11183112" cy="9144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Hengsheng Group · 事业机会说明会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2026 年 8 月 22 日（周六）· 10:30 LA Time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Hengsheng Group · 事业机会说明会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行业 /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55680" y="228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行业 / 市场洞察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被严重低估的万亿赛道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美国保险市场的真实规模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286000"/>
            <a:ext cx="2590038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286000"/>
            <a:ext cx="2590038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68880"/>
            <a:ext cx="25900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D34D"/>
                </a:solidFill>
              </a:rPr>
              <a:t>$20T+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94360" y="3291840"/>
            <a:ext cx="24071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美国寿险在保总规模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67278" y="2286000"/>
            <a:ext cx="2590038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67278" y="2286000"/>
            <a:ext cx="2590038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3367278" y="2468880"/>
            <a:ext cx="25900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D34D"/>
                </a:solidFill>
              </a:rPr>
              <a:t>$60B+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458718" y="3291840"/>
            <a:ext cx="24071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IUL 2025 新单保费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1636" y="2286000"/>
            <a:ext cx="2590038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1636" y="2286000"/>
            <a:ext cx="2590038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6231636" y="2468880"/>
            <a:ext cx="25900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D34D"/>
                </a:solidFill>
              </a:rPr>
              <a:t>6-8%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323076" y="3291840"/>
            <a:ext cx="24071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行业年增长率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95994" y="2286000"/>
            <a:ext cx="2590038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95994" y="2286000"/>
            <a:ext cx="2590038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9095994" y="2468880"/>
            <a:ext cx="25900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D34D"/>
                </a:solidFill>
              </a:rPr>
              <a:t>&lt; 8%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9187434" y="3291840"/>
            <a:ext cx="24071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华人渗透率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5532120"/>
            <a:ext cx="11183112" cy="77724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" y="5532120"/>
            <a:ext cx="64008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650992"/>
            <a:ext cx="10835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💡 华人在美国买保险的渗透率不到 8%——这就是结构性机会。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Hengsheng Group · 事业机会说明会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2026 年 8 月 22 日（周六）· 10:30 LA Time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Hengsheng Group · 事业机会说明会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行业 /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55680" y="228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行业 / 市场洞察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不是你的问题，是结构的问题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为什么 99% 的传统经纪公司活得很挣扎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286000"/>
            <a:ext cx="3544824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286000"/>
            <a:ext cx="3544824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68880"/>
            <a:ext cx="35448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D34D"/>
                </a:solidFill>
              </a:rPr>
              <a:t>100%×0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94360" y="3291840"/>
            <a:ext cx="3361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高佣金陷阱（看起来给得多）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22064" y="2286000"/>
            <a:ext cx="3544824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22064" y="2286000"/>
            <a:ext cx="3544824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322064" y="2468880"/>
            <a:ext cx="35448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D34D"/>
                </a:solidFill>
              </a:rPr>
              <a:t>孤军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413504" y="3291840"/>
            <a:ext cx="3361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老经纪人不愿意带新人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41208" y="2286000"/>
            <a:ext cx="3544824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41208" y="2286000"/>
            <a:ext cx="3544824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8141208" y="2468880"/>
            <a:ext cx="35448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D34D"/>
                </a:solidFill>
              </a:rPr>
              <a:t>天花板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232648" y="3291840"/>
            <a:ext cx="3361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销售做越久，收入越难增长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29768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CD34D"/>
                </a:solidFill>
              </a:rPr>
              <a:t>“你不是在选一家公司，你是在选一种结构。”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502920" y="5532120"/>
            <a:ext cx="11183112" cy="77724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5532120"/>
            <a:ext cx="64008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650992"/>
            <a:ext cx="10835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💡 99% 的传统 GA 模式把新人逼到孤军奋战、销售锁死 — 这是结构错误，不是个人问题。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Hengsheng Group · 事业机会说明会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2026 年 8 月 22 日（周六）· 10:30 LA Time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Hengsheng Group · 事业机会说明会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行业 /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55680" y="228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行业 / 市场洞察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8 倍以上的渗透空间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600 亿 IUL 新单里，华人只占了不到 8%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286000"/>
            <a:ext cx="2590038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286000"/>
            <a:ext cx="2590038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68880"/>
            <a:ext cx="25900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D34D"/>
                </a:solidFill>
              </a:rPr>
              <a:t>580万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94360" y="3291840"/>
            <a:ext cx="24071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全美华裔家庭数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67278" y="2286000"/>
            <a:ext cx="2590038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67278" y="2286000"/>
            <a:ext cx="2590038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3367278" y="2468880"/>
            <a:ext cx="25900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D34D"/>
                </a:solidFill>
              </a:rPr>
              <a:t>35%+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458718" y="3291840"/>
            <a:ext cx="24071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中产以上占比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1636" y="2286000"/>
            <a:ext cx="2590038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1636" y="2286000"/>
            <a:ext cx="2590038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6231636" y="2468880"/>
            <a:ext cx="25900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D34D"/>
                </a:solidFill>
              </a:rPr>
              <a:t>5 大州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323076" y="3291840"/>
            <a:ext cx="24071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CA / NY / TX / WA / FL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95994" y="2286000"/>
            <a:ext cx="2590038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95994" y="2286000"/>
            <a:ext cx="2590038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9095994" y="2468880"/>
            <a:ext cx="25900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D34D"/>
                </a:solidFill>
              </a:rPr>
              <a:t>&lt; 50%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9187434" y="3291840"/>
            <a:ext cx="24071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华人移民家庭寿险渗透率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5532120"/>
            <a:ext cx="11183112" cy="77724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" y="5532120"/>
            <a:ext cx="64008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650992"/>
            <a:ext cx="10835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💡 恒晟从加州尔湾起步 — 不是偶然，是市场结构决定的。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Hengsheng Group · 事业机会说明会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2026 年 8 月 22 日（周六）· 10:30 LA Time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Hengsheng Group · 事业机会说明会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平台 /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55680" y="228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行业 / 市场洞察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持牌 · 合规 · 覆盖全美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恒晟是谁 — 一家立足加州尔湾的保险经纪公司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286000"/>
            <a:ext cx="2590038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286000"/>
            <a:ext cx="2590038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68880"/>
            <a:ext cx="25900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D34D"/>
                </a:solidFill>
              </a:rPr>
              <a:t>Irvine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94360" y="3291840"/>
            <a:ext cx="24071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美国加州尔湾总部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67278" y="2286000"/>
            <a:ext cx="2590038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67278" y="2286000"/>
            <a:ext cx="2590038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3367278" y="2468880"/>
            <a:ext cx="25900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D34D"/>
                </a:solidFill>
              </a:rPr>
              <a:t>20州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458718" y="3291840"/>
            <a:ext cx="24071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多州展业资质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1636" y="2286000"/>
            <a:ext cx="2590038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1636" y="2286000"/>
            <a:ext cx="2590038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6231636" y="2468880"/>
            <a:ext cx="25900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D34D"/>
                </a:solidFill>
              </a:rPr>
              <a:t>HSPROSPER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323076" y="3291840"/>
            <a:ext cx="24071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官方门户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95994" y="2286000"/>
            <a:ext cx="2590038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95994" y="2286000"/>
            <a:ext cx="2590038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9095994" y="2468880"/>
            <a:ext cx="25900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D34D"/>
                </a:solidFill>
              </a:rPr>
              <a:t>FinTech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9187434" y="3291840"/>
            <a:ext cx="24071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金融科技驱动平台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5532120"/>
            <a:ext cx="11183112" cy="77724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" y="5532120"/>
            <a:ext cx="64008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650992"/>
            <a:ext cx="10835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💡 我们是合法持牌的，不是空壳。客户分布到任何新州，2 个工作日内动态扩展。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Hengsheng Group · 事业机会说明会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2026 年 8 月 22 日（周六）· 10:30 LA Time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Hengsheng Group · 事业机会说明会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平台 /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55680" y="228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行业 / 市场洞察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结构在扩张中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50+ 活跃经纪人 · 8 家 A 级承运商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286000"/>
            <a:ext cx="3544824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286000"/>
            <a:ext cx="3544824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68880"/>
            <a:ext cx="35448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D34D"/>
                </a:solidFill>
              </a:rPr>
              <a:t>50+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94360" y="3291840"/>
            <a:ext cx="3361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活跃经纪人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22064" y="2286000"/>
            <a:ext cx="3544824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22064" y="2286000"/>
            <a:ext cx="3544824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322064" y="2468880"/>
            <a:ext cx="35448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D34D"/>
                </a:solidFill>
              </a:rPr>
              <a:t>8 家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413504" y="3291840"/>
            <a:ext cx="3361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 级承运商（独立经纪）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41208" y="2286000"/>
            <a:ext cx="3544824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41208" y="2286000"/>
            <a:ext cx="3544824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8141208" y="2468880"/>
            <a:ext cx="35448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D34D"/>
                </a:solidFill>
              </a:rPr>
              <a:t>Q1→Q4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232648" y="3291840"/>
            <a:ext cx="3361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季度增长轨迹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增长轨迹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4572000"/>
            <a:ext cx="2560320" cy="777240"/>
          </a:xfrm>
          <a:prstGeom prst="roundRect">
            <a:avLst>
              <a:gd name="adj" fmla="val 5882"/>
            </a:avLst>
          </a:prstGeom>
          <a:solidFill>
            <a:srgbClr val="1A1D27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645152"/>
            <a:ext cx="896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Q1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99032" y="4754880"/>
            <a:ext cx="15873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基础搭建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017520" y="4846320"/>
            <a:ext cx="164592" cy="228600"/>
          </a:xfrm>
          <a:prstGeom prst="rightTriangle">
            <a:avLst/>
          </a:prstGeom>
          <a:solidFill>
            <a:srgbClr val="3B82F6"/>
          </a:solidFill>
          <a:ln/>
        </p:spPr>
      </p:sp>
      <p:sp>
        <p:nvSpPr>
          <p:cNvPr id="27" name="Shape 25"/>
          <p:cNvSpPr/>
          <p:nvPr/>
        </p:nvSpPr>
        <p:spPr>
          <a:xfrm>
            <a:off x="3246120" y="4572000"/>
            <a:ext cx="2560320" cy="777240"/>
          </a:xfrm>
          <a:prstGeom prst="roundRect">
            <a:avLst>
              <a:gd name="adj" fmla="val 5882"/>
            </a:avLst>
          </a:prstGeom>
          <a:solidFill>
            <a:srgbClr val="1A1D27"/>
          </a:solidFill>
          <a:ln/>
        </p:spPr>
      </p:sp>
      <p:sp>
        <p:nvSpPr>
          <p:cNvPr id="28" name="Text 26"/>
          <p:cNvSpPr/>
          <p:nvPr/>
        </p:nvSpPr>
        <p:spPr>
          <a:xfrm>
            <a:off x="3246120" y="4645152"/>
            <a:ext cx="896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Q2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142232" y="4754880"/>
            <a:ext cx="15873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试运行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760720" y="4846320"/>
            <a:ext cx="164592" cy="228600"/>
          </a:xfrm>
          <a:prstGeom prst="rightTriangle">
            <a:avLst/>
          </a:prstGeom>
          <a:solidFill>
            <a:srgbClr val="3B82F6"/>
          </a:solidFill>
          <a:ln/>
        </p:spPr>
      </p:sp>
      <p:sp>
        <p:nvSpPr>
          <p:cNvPr id="31" name="Shape 29"/>
          <p:cNvSpPr/>
          <p:nvPr/>
        </p:nvSpPr>
        <p:spPr>
          <a:xfrm>
            <a:off x="5989320" y="4572000"/>
            <a:ext cx="2560320" cy="777240"/>
          </a:xfrm>
          <a:prstGeom prst="roundRect">
            <a:avLst>
              <a:gd name="adj" fmla="val 5882"/>
            </a:avLst>
          </a:prstGeom>
          <a:solidFill>
            <a:srgbClr val="1A1D27"/>
          </a:solidFill>
          <a:ln/>
        </p:spPr>
      </p:sp>
      <p:sp>
        <p:nvSpPr>
          <p:cNvPr id="32" name="Text 30"/>
          <p:cNvSpPr/>
          <p:nvPr/>
        </p:nvSpPr>
        <p:spPr>
          <a:xfrm>
            <a:off x="5989320" y="4645152"/>
            <a:ext cx="896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Q3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85432" y="4754880"/>
            <a:ext cx="15873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快速增长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503920" y="4846320"/>
            <a:ext cx="164592" cy="228600"/>
          </a:xfrm>
          <a:prstGeom prst="rightTriangle">
            <a:avLst/>
          </a:prstGeom>
          <a:solidFill>
            <a:srgbClr val="3B82F6"/>
          </a:solidFill>
          <a:ln/>
        </p:spPr>
      </p:sp>
      <p:sp>
        <p:nvSpPr>
          <p:cNvPr id="35" name="Shape 33"/>
          <p:cNvSpPr/>
          <p:nvPr/>
        </p:nvSpPr>
        <p:spPr>
          <a:xfrm>
            <a:off x="8732520" y="4572000"/>
            <a:ext cx="2560320" cy="777240"/>
          </a:xfrm>
          <a:prstGeom prst="roundRect">
            <a:avLst>
              <a:gd name="adj" fmla="val 5882"/>
            </a:avLst>
          </a:prstGeom>
          <a:solidFill>
            <a:srgbClr val="1A1D27"/>
          </a:solidFill>
          <a:ln/>
        </p:spPr>
      </p:sp>
      <p:sp>
        <p:nvSpPr>
          <p:cNvPr id="36" name="Text 34"/>
          <p:cNvSpPr/>
          <p:nvPr/>
        </p:nvSpPr>
        <p:spPr>
          <a:xfrm>
            <a:off x="8732520" y="4645152"/>
            <a:ext cx="896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Q4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628632" y="4754880"/>
            <a:ext cx="15873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规模化扩张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" y="5532120"/>
            <a:ext cx="11183112" cy="77724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39" name="Shape 37"/>
          <p:cNvSpPr/>
          <p:nvPr/>
        </p:nvSpPr>
        <p:spPr>
          <a:xfrm>
            <a:off x="502920" y="5532120"/>
            <a:ext cx="64008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5650992"/>
            <a:ext cx="10835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💡 不要问我们有多少客户，问我们的结构在不在扩张 — 答案是确定的。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Hengsheng Group · 事业机会说明会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2026 年 8 月 22 日（周六）· 10:30 LA Time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Hengsheng Group · 事业机会说明会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平台 /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55680" y="228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行业 / 市场洞察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CPA + 律师双重复核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治理结构与合规底色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286000"/>
            <a:ext cx="2590038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286000"/>
            <a:ext cx="2590038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68880"/>
            <a:ext cx="25900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D34D"/>
                </a:solidFill>
              </a:rPr>
              <a:t>金融+法律+科技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94360" y="3291840"/>
            <a:ext cx="24071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跨领域专家矩阵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67278" y="2286000"/>
            <a:ext cx="2590038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67278" y="2286000"/>
            <a:ext cx="2590038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3367278" y="2468880"/>
            <a:ext cx="25900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D34D"/>
                </a:solidFill>
              </a:rPr>
              <a:t>双重签字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458718" y="3291840"/>
            <a:ext cx="24071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CPA + 律师合规审计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1636" y="2286000"/>
            <a:ext cx="2590038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1636" y="2286000"/>
            <a:ext cx="2590038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6231636" y="2468880"/>
            <a:ext cx="25900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D34D"/>
                </a:solidFill>
              </a:rPr>
              <a:t>季度披露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323076" y="3291840"/>
            <a:ext cx="24071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透明化财务运营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95994" y="2286000"/>
            <a:ext cx="2590038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95994" y="2286000"/>
            <a:ext cx="2590038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9095994" y="2468880"/>
            <a:ext cx="25900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D34D"/>
                </a:solidFill>
              </a:rPr>
              <a:t>独立核算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9187434" y="3291840"/>
            <a:ext cx="24071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业务板块风险隔离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5532120"/>
            <a:ext cx="11183112" cy="77724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" y="5532120"/>
            <a:ext cx="64008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650992"/>
            <a:ext cx="10835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💡 我们不是草台班子 — 治理结构成熟、合规底色干净。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Hengsheng Group · 事业机会说明会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2026 年 8 月 22 日（周六）· 10:30 LA Time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Hengsheng Group · 事业机会说明会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平台 /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55680" y="228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平台 / 承运商矩阵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8 家 A 级战略合作伙伴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独立经纪 · 客观推荐 · 8 家公司一次对比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286000"/>
            <a:ext cx="2606040" cy="13716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28600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146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MetLife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" y="32004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Trusted Partner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2286000"/>
            <a:ext cx="2606040" cy="13716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228600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25146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Chubb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37560" y="32004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Trusted Partner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72200" y="2286000"/>
            <a:ext cx="2606040" cy="13716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228600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25146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Cigna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172200" y="32004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Trusted Partner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006840" y="2286000"/>
            <a:ext cx="2606040" cy="13716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06840" y="228600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9006840" y="25146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AIG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006840" y="32004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Trusted Partner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3931920"/>
            <a:ext cx="2606040" cy="13716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393192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1605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Allianz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02920" y="4846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Trusted Partner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37560" y="3931920"/>
            <a:ext cx="2606040" cy="13716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37560" y="393192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3337560" y="41605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Prudential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337560" y="4846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Trusted Partner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72200" y="3931920"/>
            <a:ext cx="2606040" cy="13716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393192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6172200" y="41605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Transamerica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172200" y="4846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Trusted Partner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006840" y="3931920"/>
            <a:ext cx="2606040" cy="13716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006840" y="393192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0" name="Text 38"/>
          <p:cNvSpPr/>
          <p:nvPr/>
        </p:nvSpPr>
        <p:spPr>
          <a:xfrm>
            <a:off x="9006840" y="41605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Nationwide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9006840" y="4846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Trusted Partner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" y="5532120"/>
            <a:ext cx="11183112" cy="77724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43" name="Shape 41"/>
          <p:cNvSpPr/>
          <p:nvPr/>
        </p:nvSpPr>
        <p:spPr>
          <a:xfrm>
            <a:off x="502920" y="5532120"/>
            <a:ext cx="64008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" y="5650992"/>
            <a:ext cx="10835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💡 客户找你买保险，你可以同时给他 8 家公司的方案 — 这就是独立经纪的优势。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Hengsheng Group · 事业机会说明会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2026 年 8 月 22 日（周六）· 10:30 LA Time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Hengsheng Group · 事业机会说明会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产品 /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55680" y="228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产品 / 产品矩阵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全生命周期配置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6 大产品线覆盖客户全生命周期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286000"/>
            <a:ext cx="320040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产品线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03320" y="2286000"/>
            <a:ext cx="411480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2377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适用人群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18120" y="2286000"/>
            <a:ext cx="3867912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7818120" y="2377440"/>
            <a:ext cx="3867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价值点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788920"/>
            <a:ext cx="11183112" cy="41148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34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IUL 指数型万能寿险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2834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高净值家庭 / 退休规划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55280" y="2834640"/>
            <a:ext cx="3593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保本 + 指数增长 + 税务递延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200400"/>
            <a:ext cx="11183112" cy="411480"/>
          </a:xfrm>
          <a:prstGeom prst="rect">
            <a:avLst/>
          </a:prstGeom>
          <a:solidFill>
            <a:srgbClr val="161A2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46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Term 定期寿险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0" y="3246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年轻家庭 / 房贷期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55280" y="3246120"/>
            <a:ext cx="3593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高杠杆低保费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611880"/>
            <a:ext cx="11183112" cy="41148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657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WL 万能寿险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0" y="3657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资产传承需求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55280" y="3657600"/>
            <a:ext cx="3593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终身保障 + 现金值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4023360"/>
            <a:ext cx="11183112" cy="411480"/>
          </a:xfrm>
          <a:prstGeom prst="rect">
            <a:avLst/>
          </a:prstGeom>
          <a:solidFill>
            <a:srgbClr val="161A23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069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FUL 灵活型万能寿险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40480" y="4069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复杂财务结构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55280" y="4069080"/>
            <a:ext cx="3593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灵活缴费 + 灵活提取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4434840"/>
            <a:ext cx="11183112" cy="41148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480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年金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40480" y="4480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退休资金规划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55280" y="4480560"/>
            <a:ext cx="3593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终身收入流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4846320"/>
            <a:ext cx="11183112" cy="411480"/>
          </a:xfrm>
          <a:prstGeom prst="rect">
            <a:avLst/>
          </a:prstGeom>
          <a:solidFill>
            <a:srgbClr val="161A23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892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GI 整体人身保险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840480" y="4892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中小企业主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955280" y="4892040"/>
            <a:ext cx="3593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团体福利 + key-person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2920" y="5440680"/>
            <a:ext cx="11183112" cy="86868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41" name="Shape 39"/>
          <p:cNvSpPr/>
          <p:nvPr/>
        </p:nvSpPr>
        <p:spPr>
          <a:xfrm>
            <a:off x="502920" y="5440680"/>
            <a:ext cx="64008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" y="5559552"/>
            <a:ext cx="10835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💡 我们不是只卖 IUL — 是给客户提供全生命周期配置。这是高客单价的根源。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Hengsheng Group · 事业机会说明会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2026 年 8 月 22 日（周六）· 10:30 LA Time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Hengsheng Group · 事业机会说明会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产品 /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55680" y="228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行业 / 市场洞察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与国家人寿（National Life）的独家战略联盟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NLG 战略合作独家价值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286000"/>
            <a:ext cx="3544824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286000"/>
            <a:ext cx="3544824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68880"/>
            <a:ext cx="35448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D34D"/>
                </a:solidFill>
              </a:rPr>
              <a:t>独家 riders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94360" y="3291840"/>
            <a:ext cx="3361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花同样的钱，保障更多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22064" y="2286000"/>
            <a:ext cx="3544824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22064" y="2286000"/>
            <a:ext cx="3544824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322064" y="2468880"/>
            <a:ext cx="35448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D34D"/>
                </a:solidFill>
              </a:rPr>
              <a:t>专属通道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413504" y="3291840"/>
            <a:ext cx="3361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保单审批 24-48h 初步反馈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41208" y="2286000"/>
            <a:ext cx="3544824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41208" y="2286000"/>
            <a:ext cx="3544824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8141208" y="2468880"/>
            <a:ext cx="35448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D34D"/>
                </a:solidFill>
              </a:rPr>
              <a:t>联合培训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232648" y="3291840"/>
            <a:ext cx="3361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与 NLG 联合举办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5532120"/>
            <a:ext cx="11183112" cy="77724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5532120"/>
            <a:ext cx="64008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650992"/>
            <a:ext cx="10835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💡 别的经纪人要排队，我们有专属通道 — 这不是话术，是合同里写的。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Hengsheng Group · 事业机会说明会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2026 年 8 月 22 日（周六）· 10:30 LA Time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Hengsheng Group · 事业机会说明会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产品 /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55680" y="228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产品 / AI 工具矩阵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产能拉到 5-12 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 大 AI 工具矩阵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286000"/>
            <a:ext cx="5486400" cy="169164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286000"/>
            <a:ext cx="109728" cy="1691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423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</a:rPr>
              <a:t>01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00200" y="24505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NL Quote 智能报价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2880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30-60 min → 2 min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00200" y="3383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现场为客户出报价方案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286000"/>
            <a:ext cx="5486400" cy="169164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286000"/>
            <a:ext cx="109728" cy="1691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423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02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315200" y="24505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 训练陪练平台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0" y="2880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6 月 → 6 周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0" y="3383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新人培训周期压缩 75%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4206240"/>
            <a:ext cx="5486400" cy="169164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4206240"/>
            <a:ext cx="109728" cy="1691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343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03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600200" y="43708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 Judge 评估系统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00200" y="48006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实时分析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600200" y="5303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对话复盘 + 精准纠偏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4206240"/>
            <a:ext cx="5486400" cy="169164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4206240"/>
            <a:ext cx="109728" cy="1691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4343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5CF6"/>
                </a:solidFill>
              </a:rPr>
              <a:t>04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315200" y="43708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SmartFin 财务系统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15200" y="48006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自动核算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315200" y="5303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佣金实时看板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数据来源：恒晟集团内部 AI 科技赋能进度汇报（2026 Q2 实测）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Hengsheng Group · 事业机会说明会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2026 年 8 月 22 日（周六）· 10:30 LA Time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Hengsheng Group · 事业机会说明会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产品 /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55680" y="228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产品 / 技术架构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Tech × Ops × 数据飞轮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技术架构 — 双体结构 + IAIOS 框架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286000"/>
            <a:ext cx="5394960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286000"/>
            <a:ext cx="53949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688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Tech Co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" y="29718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恒晟科技 · AI 与系统架构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3375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NL Quote · AI Judge · SmartFin · 训练平台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286000"/>
            <a:ext cx="5559552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286000"/>
            <a:ext cx="55595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468880"/>
            <a:ext cx="5559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Ops Co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26480" y="2971800"/>
            <a:ext cx="5559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恒晟业务 · 经纪人与合规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3337560"/>
            <a:ext cx="5559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50+ 经纪人 · 8 家承运商 · 培训师网络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IAIOS 框架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4709160"/>
            <a:ext cx="2590038" cy="77724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4709160"/>
            <a:ext cx="45720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892040"/>
            <a:ext cx="25900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应用层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367278" y="4709160"/>
            <a:ext cx="2590038" cy="77724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25" name="Shape 23"/>
          <p:cNvSpPr/>
          <p:nvPr/>
        </p:nvSpPr>
        <p:spPr>
          <a:xfrm>
            <a:off x="3367278" y="4709160"/>
            <a:ext cx="45720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367278" y="4892040"/>
            <a:ext cx="25900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工具层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31636" y="4709160"/>
            <a:ext cx="2590038" cy="77724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28" name="Shape 26"/>
          <p:cNvSpPr/>
          <p:nvPr/>
        </p:nvSpPr>
        <p:spPr>
          <a:xfrm>
            <a:off x="6231636" y="4709160"/>
            <a:ext cx="45720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6231636" y="4892040"/>
            <a:ext cx="25900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模型层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095994" y="4709160"/>
            <a:ext cx="2590038" cy="77724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31" name="Shape 29"/>
          <p:cNvSpPr/>
          <p:nvPr/>
        </p:nvSpPr>
        <p:spPr>
          <a:xfrm>
            <a:off x="9095994" y="4709160"/>
            <a:ext cx="45720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9095994" y="4892040"/>
            <a:ext cx="25900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数据层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02920" y="5349240"/>
            <a:ext cx="11183112" cy="91440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34" name="Shape 32"/>
          <p:cNvSpPr/>
          <p:nvPr/>
        </p:nvSpPr>
        <p:spPr>
          <a:xfrm>
            <a:off x="502920" y="5349240"/>
            <a:ext cx="64008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54132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数据飞轮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" y="565099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客户数据 → AI 模型迭代 → 经纪人效率提升 → 更多客户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Hengsheng Group · 事业机会说明会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2026 年 8 月 22 日（周六）· 10:30 LA Time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Hengsheng Group · 事业机会说明会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合作模式 /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55680" y="228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合作模式 / 双路径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对应两种人生规划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两条职业发展路径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286000"/>
            <a:ext cx="5394960" cy="3931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286000"/>
            <a:ext cx="53949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6888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D34D"/>
                </a:solidFill>
              </a:rPr>
              <a:t>个人产能路线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77240" y="3200400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004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个人销售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3611880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118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个人产能突破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" y="4023360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0233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高净值客户积累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5349240"/>
            <a:ext cx="5029200" cy="777240"/>
          </a:xfrm>
          <a:prstGeom prst="rect">
            <a:avLst/>
          </a:prstGeom>
          <a:solidFill>
            <a:srgbClr val="161A2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4223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典型周期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565099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 周上手 → 第 1 年月均 $5K-$10K → 第 3 年冲击 $30K+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99632" y="2286000"/>
            <a:ext cx="5394960" cy="3931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99632" y="2286000"/>
            <a:ext cx="53949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199632" y="246888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D34D"/>
                </a:solidFill>
              </a:rPr>
              <a:t>团队领导路线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473952" y="3200400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6473952" y="32004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85432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销售打底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73952" y="3611880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6473952" y="36118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85432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招募伙伴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73952" y="4023360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6473952" y="40233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85432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团队建设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73952" y="4434840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8" name="Text 36"/>
          <p:cNvSpPr/>
          <p:nvPr/>
        </p:nvSpPr>
        <p:spPr>
          <a:xfrm>
            <a:off x="6473952" y="44348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85432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多代际收益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82512" y="5349240"/>
            <a:ext cx="5029200" cy="777240"/>
          </a:xfrm>
          <a:prstGeom prst="rect">
            <a:avLst/>
          </a:prstGeom>
          <a:solidFill>
            <a:srgbClr val="161A23"/>
          </a:solidFill>
          <a:ln/>
        </p:spPr>
      </p:sp>
      <p:sp>
        <p:nvSpPr>
          <p:cNvPr id="41" name="Text 39"/>
          <p:cNvSpPr/>
          <p:nvPr/>
        </p:nvSpPr>
        <p:spPr>
          <a:xfrm>
            <a:off x="6473952" y="54223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典型周期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73952" y="565099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第 1 年 0-3 人 → 第 2 年 5-10 人 → 第 3 年 10+ 人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292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CD34D"/>
                </a:solidFill>
              </a:rPr>
              <a:t>两路径可切换 · 不强制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Hengsheng Group · 事业机会说明会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合作模式 /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55680" y="228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合作模式 / 佣金体系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无底薪 · 纯佣金 · 对齐 V1 权威版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佣金体系 V1 — 卖出多少，发多少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194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Rank → 个人佣金率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383280"/>
            <a:ext cx="1371600" cy="73152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017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34D"/>
                </a:solidFill>
              </a:rPr>
              <a:t>50%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4160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Rank 50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39112" y="3236976"/>
            <a:ext cx="1371600" cy="877824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39112" y="287121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34D"/>
                </a:solidFill>
              </a:rPr>
              <a:t>60%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39112" y="4160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Rank 60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75304" y="3090672"/>
            <a:ext cx="1371600" cy="1024128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75304" y="27249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34D"/>
                </a:solidFill>
              </a:rPr>
              <a:t>70%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75304" y="4160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Rank 70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11496" y="3017520"/>
            <a:ext cx="1371600" cy="109728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11496" y="2651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34D"/>
                </a:solidFill>
              </a:rPr>
              <a:t>75%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11496" y="4160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Rank 75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47688" y="2944368"/>
            <a:ext cx="1371600" cy="1170432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47688" y="25786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34D"/>
                </a:solidFill>
              </a:rPr>
              <a:t>80%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47688" y="4160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Rank 80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83880" y="2871216"/>
            <a:ext cx="1371600" cy="1243584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183880" y="250545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34D"/>
                </a:solidFill>
              </a:rPr>
              <a:t>85%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183880" y="4160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Rank 85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720072" y="2798064"/>
            <a:ext cx="1371600" cy="1316736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720072" y="243230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34D"/>
                </a:solidFill>
              </a:rPr>
              <a:t>90%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720072" y="4160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Rank 90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" y="4114800"/>
            <a:ext cx="10515600" cy="18288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3" name="Shape 31"/>
          <p:cNvSpPr/>
          <p:nvPr/>
        </p:nvSpPr>
        <p:spPr>
          <a:xfrm>
            <a:off x="502920" y="4663440"/>
            <a:ext cx="3520440" cy="10972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2920" y="4663440"/>
            <a:ext cx="45720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48006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38%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85800" y="52578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代差池 · 9 代总和封顶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33672" y="4663440"/>
            <a:ext cx="3520440" cy="10972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233672" y="4663440"/>
            <a:ext cx="45720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4416552" y="48006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125%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4416552" y="52578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平台总佣金 · NLG 直签 Hengsheng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964424" y="4663440"/>
            <a:ext cx="3520440" cy="10972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4424" y="4663440"/>
            <a:ext cx="45720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8147304" y="48006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FT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8147304" y="52578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5000→50% / 10000→60% / 25000→70%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02920" y="5943600"/>
            <a:ext cx="11183112" cy="45720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46" name="Shape 44"/>
          <p:cNvSpPr/>
          <p:nvPr/>
        </p:nvSpPr>
        <p:spPr>
          <a:xfrm>
            <a:off x="502920" y="5943600"/>
            <a:ext cx="64008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6016752"/>
            <a:ext cx="10835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💡 第 1 年目标 35-40 单做到 $10 万人民币年收入 — 比行业平均少一半（AI 把产能拉起来了）。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Hengsheng Group · 事业机会说明会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2026 年 8 月 22 日（周六）· 10:30 LA Time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Hengsheng Group · 事业机会说明会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合作模式 /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55680" y="228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合作模式 / Proven 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小白也能上手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Proven System — 经过验证的赋能体系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468880"/>
            <a:ext cx="2590038" cy="33832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468880"/>
            <a:ext cx="2590038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743200"/>
            <a:ext cx="25900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CD34D"/>
                </a:solidFill>
              </a:rPr>
              <a:t>01</a:t>
            </a:r>
            <a:endParaRPr lang="en-US" sz="4400" dirty="0"/>
          </a:p>
        </p:txBody>
      </p:sp>
      <p:sp>
        <p:nvSpPr>
          <p:cNvPr id="13" name="Shape 11"/>
          <p:cNvSpPr/>
          <p:nvPr/>
        </p:nvSpPr>
        <p:spPr>
          <a:xfrm>
            <a:off x="1020928" y="3566160"/>
            <a:ext cx="1554023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794760"/>
            <a:ext cx="24071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Fast Track 快速通道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4846320"/>
            <a:ext cx="240715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业绩目标 + 标准化流程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67278" y="2468880"/>
            <a:ext cx="2590038" cy="33832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67278" y="2468880"/>
            <a:ext cx="2590038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3367278" y="2743200"/>
            <a:ext cx="25900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CD34D"/>
                </a:solidFill>
              </a:rPr>
              <a:t>02</a:t>
            </a:r>
            <a:endParaRPr lang="en-US" sz="4400" dirty="0"/>
          </a:p>
        </p:txBody>
      </p:sp>
      <p:sp>
        <p:nvSpPr>
          <p:cNvPr id="19" name="Shape 17"/>
          <p:cNvSpPr/>
          <p:nvPr/>
        </p:nvSpPr>
        <p:spPr>
          <a:xfrm>
            <a:off x="3885286" y="3566160"/>
            <a:ext cx="1554023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3458718" y="3794760"/>
            <a:ext cx="24071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实习单 Supervise Sale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58718" y="4846320"/>
            <a:ext cx="240715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培训师一对一带教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31636" y="2468880"/>
            <a:ext cx="2590038" cy="33832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31636" y="2468880"/>
            <a:ext cx="2590038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6231636" y="2743200"/>
            <a:ext cx="25900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CD34D"/>
                </a:solidFill>
              </a:rPr>
              <a:t>03</a:t>
            </a:r>
            <a:endParaRPr lang="en-US" sz="4400" dirty="0"/>
          </a:p>
        </p:txBody>
      </p:sp>
      <p:sp>
        <p:nvSpPr>
          <p:cNvPr id="25" name="Shape 23"/>
          <p:cNvSpPr/>
          <p:nvPr/>
        </p:nvSpPr>
        <p:spPr>
          <a:xfrm>
            <a:off x="6749644" y="3566160"/>
            <a:ext cx="1554023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6323076" y="3794760"/>
            <a:ext cx="24071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培训师网络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23076" y="4846320"/>
            <a:ext cx="240715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跨区域借力机制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95994" y="2468880"/>
            <a:ext cx="2590038" cy="33832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095994" y="2468880"/>
            <a:ext cx="2590038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9095994" y="2743200"/>
            <a:ext cx="25900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CD34D"/>
                </a:solidFill>
              </a:rPr>
              <a:t>04</a:t>
            </a:r>
            <a:endParaRPr lang="en-US" sz="4400" dirty="0"/>
          </a:p>
        </p:txBody>
      </p:sp>
      <p:sp>
        <p:nvSpPr>
          <p:cNvPr id="31" name="Shape 29"/>
          <p:cNvSpPr/>
          <p:nvPr/>
        </p:nvSpPr>
        <p:spPr>
          <a:xfrm>
            <a:off x="9614002" y="3566160"/>
            <a:ext cx="1554023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9187434" y="3794760"/>
            <a:ext cx="24071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全方位培训资源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87434" y="4846320"/>
            <a:ext cx="240715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线上 + 线下 + NLG 联合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5989320"/>
            <a:ext cx="11183112" cy="41148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35" name="Shape 33"/>
          <p:cNvSpPr/>
          <p:nvPr/>
        </p:nvSpPr>
        <p:spPr>
          <a:xfrm>
            <a:off x="502920" y="5989320"/>
            <a:ext cx="64008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6035040"/>
            <a:ext cx="10835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💡 你不需要是天才 — 你只需要能被系统教会。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Hengsheng Group · 事业机会说明会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合作模式 /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55680" y="228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行业 / 市场洞察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你和公司一起成长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分红 · 股票 · 长期绑定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286000"/>
            <a:ext cx="3544824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286000"/>
            <a:ext cx="3544824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68880"/>
            <a:ext cx="35448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D34D"/>
                </a:solidFill>
              </a:rPr>
              <a:t>季度分红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94360" y="3291840"/>
            <a:ext cx="3361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Rank 70+ 享受团队业绩分红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22064" y="2286000"/>
            <a:ext cx="3544824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22064" y="2286000"/>
            <a:ext cx="3544824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322064" y="2468880"/>
            <a:ext cx="35448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D34D"/>
                </a:solidFill>
              </a:rPr>
              <a:t>股权激励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413504" y="3291840"/>
            <a:ext cx="3361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纳入 Hengsheng 2026 Equity Bonus Plan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41208" y="2286000"/>
            <a:ext cx="3544824" cy="16459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41208" y="2286000"/>
            <a:ext cx="3544824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8141208" y="2468880"/>
            <a:ext cx="35448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D34D"/>
                </a:solidFill>
              </a:rPr>
              <a:t>IPO 路径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232648" y="3291840"/>
            <a:ext cx="3361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OTCQB 后核心成员参与股权激励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5532120"/>
            <a:ext cx="11183112" cy="77724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5532120"/>
            <a:ext cx="64008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650992"/>
            <a:ext cx="10835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💡 恒晟不只是佣金分成 — 到了一定阶段，公司和你长期绑定。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Hengsheng Group · 事业机会说明会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686800" y="6446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2026 年 8 月 22 日（周六）· 10:30 LA Time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Hengsheng Group · 事业机会说明会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未来前景 /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55680" y="228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未来前景 / 三阶段演进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从经纪公司到金融科技平台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三阶段演进路径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468880"/>
            <a:ext cx="3566160" cy="34747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468880"/>
            <a:ext cx="356616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8346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CD34D"/>
                </a:solidFill>
              </a:rPr>
              <a:t>Stage 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02920" y="3520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A5FA"/>
                </a:solidFill>
              </a:rPr>
              <a:t>现在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216152" y="4023360"/>
            <a:ext cx="2139696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2519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保险经纪 + AI 武装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7240" y="5257800"/>
            <a:ext cx="301752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03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产能优势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023360" y="4023360"/>
            <a:ext cx="228600" cy="365760"/>
          </a:xfrm>
          <a:prstGeom prst="rightTriangle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4297680" y="2468880"/>
            <a:ext cx="3566160" cy="34747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0" y="2468880"/>
            <a:ext cx="356616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0" y="28346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CD34D"/>
                </a:solidFill>
              </a:rPr>
              <a:t>Stage 2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297680" y="3520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A5FA"/>
                </a:solidFill>
              </a:rPr>
              <a:t>1-2 年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10912" y="4023360"/>
            <a:ext cx="2139696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4480560" y="42519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HSPROSPER 平台化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0" y="5257800"/>
            <a:ext cx="301752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5303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SaaS 化收入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818120" y="4023360"/>
            <a:ext cx="228600" cy="365760"/>
          </a:xfrm>
          <a:prstGeom prst="rightTriangle">
            <a:avLst/>
          </a:prstGeom>
          <a:solidFill>
            <a:srgbClr val="F59E0B"/>
          </a:solidFill>
          <a:ln/>
        </p:spPr>
      </p:sp>
      <p:sp>
        <p:nvSpPr>
          <p:cNvPr id="28" name="Shape 26"/>
          <p:cNvSpPr/>
          <p:nvPr/>
        </p:nvSpPr>
        <p:spPr>
          <a:xfrm>
            <a:off x="8092440" y="2468880"/>
            <a:ext cx="3566160" cy="347472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92440" y="2468880"/>
            <a:ext cx="356616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8092440" y="28346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CD34D"/>
                </a:solidFill>
              </a:rPr>
              <a:t>Stage 3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8092440" y="3520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A5FA"/>
                </a:solidFill>
              </a:rPr>
              <a:t>3-5 年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805672" y="4023360"/>
            <a:ext cx="2139696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8275320" y="42519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金融科技平台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66760" y="5257800"/>
            <a:ext cx="301752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8366760" y="5303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IPO 路径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612648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CD34D"/>
                </a:solidFill>
              </a:rPr>
              <a:t>💡 5 年后你看到的是天花板。恒晟的天花板是被主动推高的。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Hengsheng Group · 事业机会说明会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未来前景 /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55680" y="228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未来前景 / OTCQB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对你意味着什么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OTCQB 上市路径与个人机会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3317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D34D"/>
                </a:solidFill>
              </a:rPr>
              <a:t>01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8720" y="2496312"/>
            <a:ext cx="10515600" cy="36576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23774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目标市场：OTCQB（创业板）— 比粉单规范、比 OTCQX 务实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1089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D34D"/>
                </a:solidFill>
              </a:rPr>
              <a:t>02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88720" y="3273552"/>
            <a:ext cx="10515600" cy="36576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31546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挂牌门槛：已具备（50+ 股东、PCAOB 审计、季度披露）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88620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D34D"/>
                </a:solidFill>
              </a:rPr>
              <a:t>03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88720" y="4050792"/>
            <a:ext cx="10515600" cy="36576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1" name="Text 19"/>
          <p:cNvSpPr/>
          <p:nvPr/>
        </p:nvSpPr>
        <p:spPr>
          <a:xfrm>
            <a:off x="1280160" y="39319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时间窗口：2026-2027 年是核心推进期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466344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663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D34D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88720" y="4828032"/>
            <a:ext cx="10515600" cy="36576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1280160" y="47091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对你的意义：早期核心团队有机会参与股权激励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" y="5852160"/>
            <a:ext cx="11183112" cy="50292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" y="5852160"/>
            <a:ext cx="64008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943600"/>
            <a:ext cx="10835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💡 公司好，你才好 — IPO 不是终点，是放大器。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Hengsheng Group · 事业机会说明会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答疑 + 入会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55680" y="228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答疑 + 入会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下一步，怎么加入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CD34D"/>
                </a:solidFill>
              </a:rPr>
              <a:t>3 步入会路径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331720"/>
            <a:ext cx="3544824" cy="17830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331720"/>
            <a:ext cx="3544824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60320"/>
            <a:ext cx="3544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STEP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017520"/>
            <a:ext cx="317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预约 1 对 1 沟通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566160"/>
            <a:ext cx="3179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扫码填写意向表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22064" y="2331720"/>
            <a:ext cx="3544824" cy="17830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22064" y="2331720"/>
            <a:ext cx="3544824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4322064" y="2560320"/>
            <a:ext cx="3544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STEP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04944" y="3017520"/>
            <a:ext cx="317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参加新人入职说明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04944" y="3566160"/>
            <a:ext cx="3179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周三线下 / 周六线上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41208" y="2331720"/>
            <a:ext cx="3544824" cy="178308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41208" y="2331720"/>
            <a:ext cx="3544824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8141208" y="2560320"/>
            <a:ext cx="3544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STEP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4088" y="3017520"/>
            <a:ext cx="317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签约 + 注册 NLG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24088" y="3566160"/>
            <a:ext cx="3179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全程陪跑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434840"/>
            <a:ext cx="5394960" cy="178308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4434840"/>
            <a:ext cx="64008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526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联系方式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4892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官网：HSPROSPER.com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" y="5257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邮箱：partners@hsprosper.com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5623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总部：Irvine, CA, USA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99632" y="4434840"/>
            <a:ext cx="5486400" cy="178308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32" name="Shape 30"/>
          <p:cNvSpPr/>
          <p:nvPr/>
        </p:nvSpPr>
        <p:spPr>
          <a:xfrm>
            <a:off x="6199632" y="4434840"/>
            <a:ext cx="64008" cy="1783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45262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高频答疑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484632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</a:rPr>
              <a:t>Q: 没做过保险能做吗？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504748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A: Proven System + AI 工具，6 周上手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530352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</a:rPr>
              <a:t>Q: 前期投入多少？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550468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A: 执照考试 + NLG 注册（详情 1 对 1 沟通）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0" y="576072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</a:rPr>
              <a:t>Q: 多长时间能回本？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596188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A: 目标 2-3 个月，靠 AI 拉高人均产能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" y="6355080"/>
            <a:ext cx="1118311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640080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117"/>
                </a:solidFill>
              </a:rPr>
              <a:t>"我们不催你，今天听完回去想清楚，下周三说明会欢迎你来。"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Hengsheng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事业机会说明会 · 8月22日线上场</dc:subject>
  <dc:creator>Hengsheng Group Inc.</dc:creator>
  <cp:lastModifiedBy>Hengsheng Group Inc.</cp:lastModifiedBy>
  <cp:revision>1</cp:revision>
  <dcterms:created xsi:type="dcterms:W3CDTF">2026-08-22T08:31:36Z</dcterms:created>
  <dcterms:modified xsi:type="dcterms:W3CDTF">2026-08-22T08:31:36Z</dcterms:modified>
</cp:coreProperties>
</file>