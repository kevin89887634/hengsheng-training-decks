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embeddedFontLst>
    <p:embeddedFont>
      <p:font typeface="Prata"/>
      <p:regular r:id="rId201314"/>
    </p:embeddedFont>
    <p:embeddedFont>
      <p:font typeface="Raleway Bold"/>
      <p:regular r:id="rId201315"/>
    </p:embeddedFont>
    <p:embeddedFont>
      <p:font typeface="Raleway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C1D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1.png"/><Relationship Id="rId6" Type="http://schemas.openxmlformats.org/officeDocument/2006/relationships/image" Target="../media/image-13-2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1.png"/><Relationship Id="rId10" Type="http://schemas.openxmlformats.org/officeDocument/2006/relationships/image" Target="../media/image-13-2.sv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svg"/><Relationship Id="rId13" Type="http://schemas.openxmlformats.org/officeDocument/2006/relationships/image" Target="../media/image-13-1.png"/><Relationship Id="rId14" Type="http://schemas.openxmlformats.org/officeDocument/2006/relationships/image" Target="../media/image-13-2.sv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svg"/><Relationship Id="rId17" Type="http://schemas.openxmlformats.org/officeDocument/2006/relationships/image" Target="../media/image-13-1.png"/><Relationship Id="rId18" Type="http://schemas.openxmlformats.org/officeDocument/2006/relationships/image" Target="../media/image-13-2.sv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svg"/><Relationship Id="rId21" Type="http://schemas.openxmlformats.org/officeDocument/2006/relationships/image" Target="../media/image-13-1.png"/><Relationship Id="rId22" Type="http://schemas.openxmlformats.org/officeDocument/2006/relationships/image" Target="../media/image-13-2.svg"/><Relationship Id="rId23" Type="http://schemas.openxmlformats.org/officeDocument/2006/relationships/image" Target="../media/image-13-23.png"/><Relationship Id="rId24" Type="http://schemas.openxmlformats.org/officeDocument/2006/relationships/image" Target="../media/image-13-24.sv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1.png"/><Relationship Id="rId4" Type="http://schemas.openxmlformats.org/officeDocument/2006/relationships/image" Target="../media/image-14-2.svg"/><Relationship Id="rId5" Type="http://schemas.openxmlformats.org/officeDocument/2006/relationships/image" Target="../media/image-14-1.png"/><Relationship Id="rId6" Type="http://schemas.openxmlformats.org/officeDocument/2006/relationships/image" Target="../media/image-14-2.svg"/><Relationship Id="rId7" Type="http://schemas.openxmlformats.org/officeDocument/2006/relationships/image" Target="../media/image-14-7.jpe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image" Target="../media/image-15-3.jpeg"/><Relationship Id="rId4" Type="http://schemas.openxmlformats.org/officeDocument/2006/relationships/image" Target="../media/image-15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63589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C9A961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恒晟集团</a:t>
            </a:r>
            <a:pPr algn="ctr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· 事业机会说明会</a:t>
            </a:r>
            <a:endParaRPr lang="zh-CN" sz="3700" dirty="0"/>
          </a:p>
        </p:txBody>
      </p:sp>
      <p:sp>
        <p:nvSpPr>
          <p:cNvPr id="4" name="Text 1"/>
          <p:cNvSpPr/>
          <p:nvPr/>
        </p:nvSpPr>
        <p:spPr>
          <a:xfrm>
            <a:off x="356682" y="3237706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一家用 AI 重构保险经纪生态的科技平台 · 加州尔湾</a:t>
            </a:r>
            <a:endParaRPr lang="zh-CN" sz="1450" dirty="0"/>
          </a:p>
        </p:txBody>
      </p:sp>
      <p:sp>
        <p:nvSpPr>
          <p:cNvPr id="5" name="Shape 2"/>
          <p:cNvSpPr/>
          <p:nvPr/>
        </p:nvSpPr>
        <p:spPr>
          <a:xfrm>
            <a:off x="1832128" y="3752751"/>
            <a:ext cx="3955554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EEE27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945532" y="3809405"/>
            <a:ext cx="433833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EE2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AUGUST 22, 2026 · 10:30 AM LA TIME · ZOOM ONLINE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56682" y="4252516"/>
            <a:ext cx="6906444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Zoom ID: 740 582 6214 · Passcode: 149455 · hsprosper.com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746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C9A961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今日议程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· 五大模块</a:t>
            </a:r>
            <a:endParaRPr lang="zh-CN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1613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60–90 分钟，结构化呈现恒晟实力。数据驱动，不喊口号，不画大饼。</a:t>
            </a:r>
            <a:endParaRPr lang="zh-CN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63118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2927052"/>
            <a:ext cx="3496877" cy="25400"/>
          </a:xfrm>
          <a:prstGeom prst="rect">
            <a:avLst/>
          </a:prstGeom>
          <a:solidFill>
            <a:srgbClr val="D2AC47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3072309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行业</a:t>
            </a:r>
            <a:endParaRPr lang="zh-CN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3480991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美国保险市场的万亿机遇与华人结构性红利（页 3–5）</a:t>
            </a:r>
            <a:endParaRPr lang="zh-CN" sz="1450" dirty="0"/>
          </a:p>
        </p:txBody>
      </p:sp>
      <p:sp>
        <p:nvSpPr>
          <p:cNvPr id="8" name="Text 6"/>
          <p:cNvSpPr/>
          <p:nvPr/>
        </p:nvSpPr>
        <p:spPr>
          <a:xfrm>
            <a:off x="4347359" y="263118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7359" y="2927052"/>
            <a:ext cx="3496877" cy="25400"/>
          </a:xfrm>
          <a:prstGeom prst="rect">
            <a:avLst/>
          </a:prstGeom>
          <a:solidFill>
            <a:srgbClr val="D2AC47"/>
          </a:solidFill>
          <a:ln/>
        </p:spPr>
      </p:sp>
      <p:sp>
        <p:nvSpPr>
          <p:cNvPr id="10" name="Text 8"/>
          <p:cNvSpPr/>
          <p:nvPr/>
        </p:nvSpPr>
        <p:spPr>
          <a:xfrm>
            <a:off x="4347359" y="3072309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平台</a:t>
            </a:r>
            <a:endParaRPr lang="zh-CN" sz="1850" dirty="0"/>
          </a:p>
        </p:txBody>
      </p:sp>
      <p:sp>
        <p:nvSpPr>
          <p:cNvPr id="11" name="Text 9"/>
          <p:cNvSpPr/>
          <p:nvPr/>
        </p:nvSpPr>
        <p:spPr>
          <a:xfrm>
            <a:off x="4347359" y="3480991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恒晟是谁、规模、生态与合规底色（页 6–9）</a:t>
            </a:r>
            <a:endParaRPr lang="zh-CN" sz="1450" dirty="0"/>
          </a:p>
        </p:txBody>
      </p:sp>
      <p:sp>
        <p:nvSpPr>
          <p:cNvPr id="12" name="Text 10"/>
          <p:cNvSpPr/>
          <p:nvPr/>
        </p:nvSpPr>
        <p:spPr>
          <a:xfrm>
            <a:off x="8033244" y="263118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03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033244" y="2927052"/>
            <a:ext cx="3496877" cy="25400"/>
          </a:xfrm>
          <a:prstGeom prst="rect">
            <a:avLst/>
          </a:prstGeom>
          <a:solidFill>
            <a:srgbClr val="D2AC47"/>
          </a:solidFill>
          <a:ln/>
        </p:spPr>
      </p:sp>
      <p:sp>
        <p:nvSpPr>
          <p:cNvPr id="14" name="Text 12"/>
          <p:cNvSpPr/>
          <p:nvPr/>
        </p:nvSpPr>
        <p:spPr>
          <a:xfrm>
            <a:off x="8033244" y="3072309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产品</a:t>
            </a:r>
            <a:endParaRPr lang="zh-CN" sz="1850" dirty="0"/>
          </a:p>
        </p:txBody>
      </p:sp>
      <p:sp>
        <p:nvSpPr>
          <p:cNvPr id="15" name="Text 13"/>
          <p:cNvSpPr/>
          <p:nvPr/>
        </p:nvSpPr>
        <p:spPr>
          <a:xfrm>
            <a:off x="8033244" y="3480991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 大产品线 + 8 家承运商 + 4 大 AI 工具（页 10–13）</a:t>
            </a:r>
            <a:endParaRPr lang="zh-CN" sz="1450" dirty="0"/>
          </a:p>
        </p:txBody>
      </p:sp>
      <p:sp>
        <p:nvSpPr>
          <p:cNvPr id="16" name="Text 14"/>
          <p:cNvSpPr/>
          <p:nvPr/>
        </p:nvSpPr>
        <p:spPr>
          <a:xfrm>
            <a:off x="661475" y="4416524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04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1475" y="4693543"/>
            <a:ext cx="5339820" cy="25400"/>
          </a:xfrm>
          <a:prstGeom prst="rect">
            <a:avLst/>
          </a:prstGeom>
          <a:solidFill>
            <a:srgbClr val="D2AC47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4857651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合作模式</a:t>
            </a:r>
            <a:endParaRPr lang="zh-CN" sz="1850" dirty="0"/>
          </a:p>
        </p:txBody>
      </p:sp>
      <p:sp>
        <p:nvSpPr>
          <p:cNvPr id="19" name="Text 17"/>
          <p:cNvSpPr/>
          <p:nvPr/>
        </p:nvSpPr>
        <p:spPr>
          <a:xfrm>
            <a:off x="661475" y="5266333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双路径职业发展 · 佣金体系 · 可复制系统（页 14–17）</a:t>
            </a:r>
            <a:endParaRPr lang="zh-CN" sz="1450" dirty="0"/>
          </a:p>
        </p:txBody>
      </p:sp>
      <p:sp>
        <p:nvSpPr>
          <p:cNvPr id="20" name="Text 18"/>
          <p:cNvSpPr/>
          <p:nvPr/>
        </p:nvSpPr>
        <p:spPr>
          <a:xfrm>
            <a:off x="6190301" y="4416524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05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90301" y="4693543"/>
            <a:ext cx="5339820" cy="25400"/>
          </a:xfrm>
          <a:prstGeom prst="rect">
            <a:avLst/>
          </a:prstGeom>
          <a:solidFill>
            <a:srgbClr val="D2AC47"/>
          </a:solidFill>
          <a:ln/>
        </p:spPr>
      </p:sp>
      <p:sp>
        <p:nvSpPr>
          <p:cNvPr id="22" name="Text 20"/>
          <p:cNvSpPr/>
          <p:nvPr/>
        </p:nvSpPr>
        <p:spPr>
          <a:xfrm>
            <a:off x="6190301" y="4857651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未来前景</a:t>
            </a:r>
            <a:endParaRPr lang="zh-CN" sz="1850" dirty="0"/>
          </a:p>
        </p:txBody>
      </p:sp>
      <p:sp>
        <p:nvSpPr>
          <p:cNvPr id="23" name="Text 21"/>
          <p:cNvSpPr/>
          <p:nvPr/>
        </p:nvSpPr>
        <p:spPr>
          <a:xfrm>
            <a:off x="6190301" y="5266333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从经纪平台到金融科技 · OTCQB 上市路径（页 18–20）</a:t>
            </a:r>
            <a:endParaRPr lang="zh-CN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2508151"/>
            <a:ext cx="1088006" cy="287139"/>
          </a:xfrm>
          <a:prstGeom prst="roundRect">
            <a:avLst>
              <a:gd name="adj" fmla="val 7899"/>
            </a:avLst>
          </a:prstGeom>
          <a:solidFill>
            <a:srgbClr val="443D09"/>
          </a:solidFill>
          <a:ln/>
        </p:spPr>
      </p:sp>
      <p:sp>
        <p:nvSpPr>
          <p:cNvPr id="4" name="Text 1"/>
          <p:cNvSpPr/>
          <p:nvPr/>
        </p:nvSpPr>
        <p:spPr>
          <a:xfrm>
            <a:off x="774879" y="2564805"/>
            <a:ext cx="147078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11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模块一 · 行业</a:t>
            </a:r>
            <a:endParaRPr lang="zh-CN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287089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一个被严重低估的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C9A961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万亿赛道</a:t>
            </a:r>
            <a:endParaRPr lang="zh-CN" sz="3700" dirty="0"/>
          </a:p>
        </p:txBody>
      </p:sp>
      <p:sp>
        <p:nvSpPr>
          <p:cNvPr id="6" name="Text 3"/>
          <p:cNvSpPr/>
          <p:nvPr/>
        </p:nvSpPr>
        <p:spPr>
          <a:xfrm>
            <a:off x="661475" y="3745012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大多数人以为保险是夕阳行业——数据证明恰好相反。美国是全球最大的人寿险市场，且仍在加速增长。</a:t>
            </a:r>
            <a:endParaRPr lang="zh-CN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美国人寿保险市场：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C9A961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核心数据</a:t>
            </a:r>
            <a:endParaRPr lang="zh-CN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三大核心事实</a:t>
            </a:r>
            <a:endParaRPr lang="zh-CN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34183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超 20 万亿美元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：美国人寿险在保总规模，全球第一大市场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超 600 亿美元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：IUL（指数型万能险）2025 年新单保费，近 5 年两位数增长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6–8% 年化增长率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：行业持续扩张，不是收缩</a:t>
            </a:r>
            <a:endParaRPr lang="zh-CN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4008239"/>
            <a:ext cx="5203794" cy="1039416"/>
          </a:xfrm>
          <a:prstGeom prst="roundRect">
            <a:avLst>
              <a:gd name="adj" fmla="val 2728"/>
            </a:avLst>
          </a:prstGeom>
          <a:solidFill>
            <a:srgbClr val="71660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4294981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4225528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IUL 是增长最快的寿险品类之一，华人渗透率目前不足 8%——这正是恒晟的切入点。</a:t>
            </a:r>
            <a:endParaRPr lang="zh-CN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602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传统经纪模式的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C9A961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三大结构性困境</a:t>
            </a:r>
            <a:endParaRPr lang="zh-CN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7470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为什么 99% 的保险代理公司活得很挣扎？不是市场问题，是结构问题。</a:t>
            </a:r>
            <a:endParaRPr lang="zh-CN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889746"/>
            <a:ext cx="3496877" cy="20471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479" y="3104158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高佣金陷阱</a:t>
            </a:r>
            <a:endParaRPr lang="zh-CN" sz="1850" dirty="0"/>
          </a:p>
        </p:txBody>
      </p:sp>
      <p:sp>
        <p:nvSpPr>
          <p:cNvPr id="6" name="Text 3"/>
          <p:cNvSpPr/>
          <p:nvPr/>
        </p:nvSpPr>
        <p:spPr>
          <a:xfrm>
            <a:off x="977479" y="3512840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表面给出 100% 佣金，实质上是把获客、培训、系统全部甩给代理人自己扛。没有支撑，佣金再高也是零乘任何数等于零。</a:t>
            </a:r>
            <a:endParaRPr lang="zh-CN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889746"/>
            <a:ext cx="3496877" cy="20471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363" y="3104158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孤军奋战文化</a:t>
            </a:r>
            <a:endParaRPr lang="zh-CN" sz="1850" dirty="0"/>
          </a:p>
        </p:txBody>
      </p:sp>
      <p:sp>
        <p:nvSpPr>
          <p:cNvPr id="9" name="Text 5"/>
          <p:cNvSpPr/>
          <p:nvPr/>
        </p:nvSpPr>
        <p:spPr>
          <a:xfrm>
            <a:off x="4663363" y="3512840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"教会徒弟饿死师傅"——老经纪人不愿带新人，新人没有可复制的学习路径，流失率极高。</a:t>
            </a:r>
            <a:endParaRPr lang="zh-CN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889746"/>
            <a:ext cx="3496877" cy="20471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49247" y="3104158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收入天花板锁死</a:t>
            </a:r>
            <a:endParaRPr lang="zh-CN" sz="1850" dirty="0"/>
          </a:p>
        </p:txBody>
      </p:sp>
      <p:sp>
        <p:nvSpPr>
          <p:cNvPr id="12" name="Text 7"/>
          <p:cNvSpPr/>
          <p:nvPr/>
        </p:nvSpPr>
        <p:spPr>
          <a:xfrm>
            <a:off x="8349247" y="3512840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终身做一线销售，客户越多越累，收入线性增长。没有杠杆，没有团队收益，更没有资产化路径。</a:t>
            </a:r>
            <a:endParaRPr lang="zh-CN" sz="1450" dirty="0"/>
          </a:p>
        </p:txBody>
      </p:sp>
      <p:sp>
        <p:nvSpPr>
          <p:cNvPr id="13" name="Text 8"/>
          <p:cNvSpPr/>
          <p:nvPr/>
        </p:nvSpPr>
        <p:spPr>
          <a:xfrm>
            <a:off x="356682" y="514955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zh-CN" altLang="en-US" sz="1450" b="1" dirty="0">
                <a:solidFill>
                  <a:srgbClr val="C9A961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"你不是在选一家公司，你是在选一种结构。"</a:t>
            </a:r>
            <a:endParaRPr lang="zh-CN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56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华人市场的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C9A961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结构性机会</a:t>
            </a:r>
            <a:endParaRPr lang="zh-CN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10060"/>
            <a:ext cx="6903269" cy="39118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1698823"/>
            <a:ext cx="350421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600 亿 IUL 新单里，华人只占不到 8%</a:t>
            </a:r>
            <a:endParaRPr lang="zh-CN" sz="1850" dirty="0"/>
          </a:p>
        </p:txBody>
      </p:sp>
      <p:sp>
        <p:nvSpPr>
          <p:cNvPr id="5" name="Text 2"/>
          <p:cNvSpPr/>
          <p:nvPr/>
        </p:nvSpPr>
        <p:spPr>
          <a:xfrm>
            <a:off x="8032251" y="2478385"/>
            <a:ext cx="3504219" cy="2920008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全美华裔家庭约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580 万户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，中产及以上占比 35%+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五大高密度州：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CA / NY / TX / WA / FL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，每个城市潜在客户池 1–3 万户家庭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华人移民家庭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人寿险渗透率低于 50%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，退休与传承规划渗透率更低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语言与文化壁垒使华人社群长期处于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保障缺口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状态</a:t>
            </a:r>
            <a:endParaRPr lang="zh-CN" sz="1450" dirty="0"/>
          </a:p>
        </p:txBody>
      </p:sp>
      <p:sp>
        <p:nvSpPr>
          <p:cNvPr id="6" name="Text 3"/>
          <p:cNvSpPr/>
          <p:nvPr/>
        </p:nvSpPr>
        <p:spPr>
          <a:xfrm>
            <a:off x="8032251" y="5568454"/>
            <a:ext cx="3504219" cy="483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恒晟从加州尔湾起步，不是偶然——是市场结构决定的战略选择。</a:t>
            </a:r>
            <a:endParaRPr lang="zh-CN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2508151"/>
            <a:ext cx="1088006" cy="287139"/>
          </a:xfrm>
          <a:prstGeom prst="roundRect">
            <a:avLst>
              <a:gd name="adj" fmla="val 7899"/>
            </a:avLst>
          </a:prstGeom>
          <a:solidFill>
            <a:srgbClr val="443D09"/>
          </a:solidFill>
          <a:ln/>
        </p:spPr>
      </p:sp>
      <p:sp>
        <p:nvSpPr>
          <p:cNvPr id="4" name="Text 1"/>
          <p:cNvSpPr/>
          <p:nvPr/>
        </p:nvSpPr>
        <p:spPr>
          <a:xfrm>
            <a:off x="5346765" y="2564805"/>
            <a:ext cx="147078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11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模块二 · 平台</a:t>
            </a:r>
            <a:endParaRPr lang="zh-CN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287089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C9A961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恒晟集团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· 我们是谁</a:t>
            </a:r>
            <a:endParaRPr lang="zh-CN" sz="3700" dirty="0"/>
          </a:p>
        </p:txBody>
      </p:sp>
      <p:sp>
        <p:nvSpPr>
          <p:cNvPr id="6" name="Text 3"/>
          <p:cNvSpPr/>
          <p:nvPr/>
        </p:nvSpPr>
        <p:spPr>
          <a:xfrm>
            <a:off x="5233360" y="3745012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一家立足加州尔湾的持牌保险经纪公司，以金融科技为核心驱动力，重新定义华人市场的保险服务标准。</a:t>
            </a:r>
            <a:endParaRPr lang="zh-CN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640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平台核心档案</a:t>
            </a:r>
            <a:endParaRPr lang="zh-CN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153146"/>
            <a:ext cx="2507394" cy="1467148"/>
          </a:xfrm>
          <a:prstGeom prst="roundRect">
            <a:avLst>
              <a:gd name="adj" fmla="val 1933"/>
            </a:avLst>
          </a:prstGeom>
          <a:solidFill>
            <a:srgbClr val="3A3B3C"/>
          </a:solidFill>
          <a:ln/>
        </p:spPr>
      </p:sp>
      <p:sp>
        <p:nvSpPr>
          <p:cNvPr id="4" name="Text 2"/>
          <p:cNvSpPr/>
          <p:nvPr/>
        </p:nvSpPr>
        <p:spPr>
          <a:xfrm>
            <a:off x="850482" y="2342158"/>
            <a:ext cx="21293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公司全称</a:t>
            </a:r>
            <a:endParaRPr lang="zh-CN" sz="1850" dirty="0"/>
          </a:p>
        </p:txBody>
      </p:sp>
      <p:sp>
        <p:nvSpPr>
          <p:cNvPr id="5" name="Text 3"/>
          <p:cNvSpPr/>
          <p:nvPr/>
        </p:nvSpPr>
        <p:spPr>
          <a:xfrm>
            <a:off x="850482" y="2826445"/>
            <a:ext cx="21293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Hengsheng Group Inc. / 恒晟集团</a:t>
            </a:r>
            <a:endParaRPr lang="zh-CN" sz="1450" dirty="0"/>
          </a:p>
        </p:txBody>
      </p:sp>
      <p:sp>
        <p:nvSpPr>
          <p:cNvPr id="6" name="Shape 4"/>
          <p:cNvSpPr/>
          <p:nvPr/>
        </p:nvSpPr>
        <p:spPr>
          <a:xfrm>
            <a:off x="3357875" y="2153146"/>
            <a:ext cx="2507394" cy="1467148"/>
          </a:xfrm>
          <a:prstGeom prst="roundRect">
            <a:avLst>
              <a:gd name="adj" fmla="val 1933"/>
            </a:avLst>
          </a:prstGeom>
          <a:solidFill>
            <a:srgbClr val="3A3B3C"/>
          </a:solidFill>
          <a:ln/>
        </p:spPr>
      </p:sp>
      <p:sp>
        <p:nvSpPr>
          <p:cNvPr id="7" name="Text 5"/>
          <p:cNvSpPr/>
          <p:nvPr/>
        </p:nvSpPr>
        <p:spPr>
          <a:xfrm>
            <a:off x="3546882" y="2342158"/>
            <a:ext cx="21293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总部</a:t>
            </a:r>
            <a:endParaRPr lang="zh-CN" sz="1850" dirty="0"/>
          </a:p>
        </p:txBody>
      </p:sp>
      <p:sp>
        <p:nvSpPr>
          <p:cNvPr id="8" name="Text 6"/>
          <p:cNvSpPr/>
          <p:nvPr/>
        </p:nvSpPr>
        <p:spPr>
          <a:xfrm>
            <a:off x="3546882" y="2826445"/>
            <a:ext cx="21293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Irvine, California, USA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809305"/>
            <a:ext cx="2507394" cy="1769566"/>
          </a:xfrm>
          <a:prstGeom prst="roundRect">
            <a:avLst>
              <a:gd name="adj" fmla="val 1602"/>
            </a:avLst>
          </a:prstGeom>
          <a:solidFill>
            <a:srgbClr val="3A3B3C"/>
          </a:solidFill>
          <a:ln/>
        </p:spPr>
      </p:sp>
      <p:sp>
        <p:nvSpPr>
          <p:cNvPr id="10" name="Text 8"/>
          <p:cNvSpPr/>
          <p:nvPr/>
        </p:nvSpPr>
        <p:spPr>
          <a:xfrm>
            <a:off x="850482" y="3998317"/>
            <a:ext cx="21293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执业资质</a:t>
            </a:r>
            <a:endParaRPr lang="zh-CN" sz="1850" dirty="0"/>
          </a:p>
        </p:txBody>
      </p:sp>
      <p:sp>
        <p:nvSpPr>
          <p:cNvPr id="11" name="Text 9"/>
          <p:cNvSpPr/>
          <p:nvPr/>
        </p:nvSpPr>
        <p:spPr>
          <a:xfrm>
            <a:off x="850482" y="4482604"/>
            <a:ext cx="21293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加州持牌经纪 · 覆盖 20 州 · 可动态扩展</a:t>
            </a:r>
            <a:endParaRPr lang="zh-CN" sz="1450" dirty="0"/>
          </a:p>
        </p:txBody>
      </p:sp>
      <p:sp>
        <p:nvSpPr>
          <p:cNvPr id="12" name="Shape 10"/>
          <p:cNvSpPr/>
          <p:nvPr/>
        </p:nvSpPr>
        <p:spPr>
          <a:xfrm>
            <a:off x="3357875" y="3809305"/>
            <a:ext cx="2507394" cy="1769566"/>
          </a:xfrm>
          <a:prstGeom prst="roundRect">
            <a:avLst>
              <a:gd name="adj" fmla="val 1602"/>
            </a:avLst>
          </a:prstGeom>
          <a:solidFill>
            <a:srgbClr val="3A3B3C"/>
          </a:solidFill>
          <a:ln/>
        </p:spPr>
      </p:sp>
      <p:sp>
        <p:nvSpPr>
          <p:cNvPr id="13" name="Text 11"/>
          <p:cNvSpPr/>
          <p:nvPr/>
        </p:nvSpPr>
        <p:spPr>
          <a:xfrm>
            <a:off x="3546882" y="3998317"/>
            <a:ext cx="21293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创立时间</a:t>
            </a:r>
            <a:endParaRPr lang="zh-CN" sz="1850" dirty="0"/>
          </a:p>
        </p:txBody>
      </p:sp>
      <p:sp>
        <p:nvSpPr>
          <p:cNvPr id="14" name="Text 12"/>
          <p:cNvSpPr/>
          <p:nvPr/>
        </p:nvSpPr>
        <p:spPr>
          <a:xfrm>
            <a:off x="3546882" y="4482604"/>
            <a:ext cx="212938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2021 年 · 创始人 Shirley（金融数学双硕士 + 15 年美国保险经验）</a:t>
            </a:r>
            <a:endParaRPr lang="zh-CN" sz="1450" dirty="0"/>
          </a:p>
        </p:txBody>
      </p:sp>
      <p:sp>
        <p:nvSpPr>
          <p:cNvPr id="15" name="Text 13"/>
          <p:cNvSpPr/>
          <p:nvPr/>
        </p:nvSpPr>
        <p:spPr>
          <a:xfrm>
            <a:off x="6332776" y="212953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定位：金融科技驱动的保险经纪平台</a:t>
            </a:r>
            <a:endParaRPr lang="zh-CN" sz="1850" dirty="0"/>
          </a:p>
        </p:txBody>
      </p:sp>
      <p:sp>
        <p:nvSpPr>
          <p:cNvPr id="16" name="Text 14"/>
          <p:cNvSpPr/>
          <p:nvPr/>
        </p:nvSpPr>
        <p:spPr>
          <a:xfrm>
            <a:off x="6332776" y="261381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恒晟不是传统 GA（总代理）。我们是独立经纪平台——不绑定单一承运商，以技术和系统赋能每一位经纪人。</a:t>
            </a:r>
            <a:endParaRPr lang="zh-CN" sz="1450" dirty="0"/>
          </a:p>
        </p:txBody>
      </p:sp>
      <p:sp>
        <p:nvSpPr>
          <p:cNvPr id="17" name="Text 15"/>
          <p:cNvSpPr/>
          <p:nvPr/>
        </p:nvSpPr>
        <p:spPr>
          <a:xfrm>
            <a:off x="6332776" y="3388717"/>
            <a:ext cx="5203794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CEO：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Kevin Fan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官方门户：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HSPROSPER.com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联系邮箱：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partners@hsprosper.com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50+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活跃经纪人 ·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8 家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 级承运商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季度增长轨迹 · 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C9A961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结构在扩张</a:t>
            </a:r>
            <a:endParaRPr lang="zh-CN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增长逻辑</a:t>
            </a:r>
            <a:endParaRPr lang="zh-CN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我们不强调"我们有多少客户"，我们强调"结构是否在健康扩张"。</a:t>
            </a:r>
            <a:endParaRPr lang="zh-CN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3228677"/>
            <a:ext cx="5203794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Q1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：合规体系与技术架构搭建完成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Q2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：AI 工具套件内测，首批团队上线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Q3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：50+ 活跃经纪人，多州展业通道打通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Q4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：规模化复制阶段，目标 70+ 团队成员</a:t>
            </a:r>
            <a:endParaRPr lang="zh-CN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507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2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战略承运商矩阵 · 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3250" dirty="0">
                <a:solidFill>
                  <a:srgbClr val="C9A961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8 家 A 级合作伙伴</a:t>
            </a:r>
            <a:endParaRPr lang="zh-CN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81224"/>
            <a:ext cx="1147833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独立经纪模式的核心优势：客户找你，你能同时给出 8 家顶级保险公司的方案，客观推荐，不绑定，不偏向。</a:t>
            </a:r>
            <a:endParaRPr lang="zh-CN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1791990"/>
            <a:ext cx="5362044" cy="923925"/>
          </a:xfrm>
          <a:prstGeom prst="roundRect">
            <a:avLst>
              <a:gd name="adj" fmla="val 2685"/>
            </a:avLst>
          </a:prstGeom>
          <a:solidFill>
            <a:srgbClr val="3A3B3C"/>
          </a:solidFill>
          <a:ln/>
        </p:spPr>
      </p:sp>
      <p:sp>
        <p:nvSpPr>
          <p:cNvPr id="5" name="Text 3"/>
          <p:cNvSpPr/>
          <p:nvPr/>
        </p:nvSpPr>
        <p:spPr>
          <a:xfrm>
            <a:off x="826769" y="1957288"/>
            <a:ext cx="503145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National Life Group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6769" y="2302570"/>
            <a:ext cx="503145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战略首选 · 专属通道 · IUL 核心承运商</a:t>
            </a:r>
            <a:endParaRPr lang="zh-CN" sz="1300" dirty="0"/>
          </a:p>
        </p:txBody>
      </p:sp>
      <p:sp>
        <p:nvSpPr>
          <p:cNvPr id="7" name="Shape 5"/>
          <p:cNvSpPr/>
          <p:nvPr/>
        </p:nvSpPr>
        <p:spPr>
          <a:xfrm>
            <a:off x="6168176" y="1791990"/>
            <a:ext cx="5362044" cy="923925"/>
          </a:xfrm>
          <a:prstGeom prst="roundRect">
            <a:avLst>
              <a:gd name="adj" fmla="val 2685"/>
            </a:avLst>
          </a:prstGeom>
          <a:solidFill>
            <a:srgbClr val="3A3B3C"/>
          </a:solidFill>
          <a:ln/>
        </p:spPr>
      </p:sp>
      <p:sp>
        <p:nvSpPr>
          <p:cNvPr id="8" name="Text 6"/>
          <p:cNvSpPr/>
          <p:nvPr/>
        </p:nvSpPr>
        <p:spPr>
          <a:xfrm>
            <a:off x="6333470" y="1957288"/>
            <a:ext cx="503145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Pan-American Life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33470" y="2302570"/>
            <a:ext cx="503145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跨境家庭专属方案</a:t>
            </a:r>
            <a:endParaRPr lang="zh-CN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2860576"/>
            <a:ext cx="5362044" cy="923925"/>
          </a:xfrm>
          <a:prstGeom prst="roundRect">
            <a:avLst>
              <a:gd name="adj" fmla="val 2685"/>
            </a:avLst>
          </a:prstGeom>
          <a:solidFill>
            <a:srgbClr val="3A3B3C"/>
          </a:solidFill>
          <a:ln/>
        </p:spPr>
      </p:sp>
      <p:sp>
        <p:nvSpPr>
          <p:cNvPr id="11" name="Text 9"/>
          <p:cNvSpPr/>
          <p:nvPr/>
        </p:nvSpPr>
        <p:spPr>
          <a:xfrm>
            <a:off x="826769" y="3025874"/>
            <a:ext cx="503145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AIG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6769" y="3371155"/>
            <a:ext cx="503145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高净值客户综合解决方案</a:t>
            </a:r>
            <a:endParaRPr lang="zh-CN" sz="1300" dirty="0"/>
          </a:p>
        </p:txBody>
      </p:sp>
      <p:sp>
        <p:nvSpPr>
          <p:cNvPr id="13" name="Shape 11"/>
          <p:cNvSpPr/>
          <p:nvPr/>
        </p:nvSpPr>
        <p:spPr>
          <a:xfrm>
            <a:off x="6168176" y="2860576"/>
            <a:ext cx="5362044" cy="923925"/>
          </a:xfrm>
          <a:prstGeom prst="roundRect">
            <a:avLst>
              <a:gd name="adj" fmla="val 2685"/>
            </a:avLst>
          </a:prstGeom>
          <a:solidFill>
            <a:srgbClr val="3A3B3C"/>
          </a:solidFill>
          <a:ln/>
        </p:spPr>
      </p:sp>
      <p:sp>
        <p:nvSpPr>
          <p:cNvPr id="14" name="Text 12"/>
          <p:cNvSpPr/>
          <p:nvPr/>
        </p:nvSpPr>
        <p:spPr>
          <a:xfrm>
            <a:off x="6333470" y="3025874"/>
            <a:ext cx="503145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Prudential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33470" y="3371155"/>
            <a:ext cx="503145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百年品牌 · 机构客户首选</a:t>
            </a:r>
            <a:endParaRPr lang="zh-CN" sz="1300" dirty="0"/>
          </a:p>
        </p:txBody>
      </p:sp>
      <p:sp>
        <p:nvSpPr>
          <p:cNvPr id="16" name="Shape 14"/>
          <p:cNvSpPr/>
          <p:nvPr/>
        </p:nvSpPr>
        <p:spPr>
          <a:xfrm>
            <a:off x="661475" y="3929162"/>
            <a:ext cx="5362044" cy="923925"/>
          </a:xfrm>
          <a:prstGeom prst="roundRect">
            <a:avLst>
              <a:gd name="adj" fmla="val 2685"/>
            </a:avLst>
          </a:prstGeom>
          <a:solidFill>
            <a:srgbClr val="3A3B3C"/>
          </a:solidFill>
          <a:ln/>
        </p:spPr>
      </p:sp>
      <p:sp>
        <p:nvSpPr>
          <p:cNvPr id="17" name="Text 15"/>
          <p:cNvSpPr/>
          <p:nvPr/>
        </p:nvSpPr>
        <p:spPr>
          <a:xfrm>
            <a:off x="826769" y="4094460"/>
            <a:ext cx="503145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Transamerica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6769" y="4439741"/>
            <a:ext cx="503145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退休规划 · 年金专项</a:t>
            </a:r>
            <a:endParaRPr lang="zh-CN" sz="1300" dirty="0"/>
          </a:p>
        </p:txBody>
      </p:sp>
      <p:sp>
        <p:nvSpPr>
          <p:cNvPr id="19" name="Shape 17"/>
          <p:cNvSpPr/>
          <p:nvPr/>
        </p:nvSpPr>
        <p:spPr>
          <a:xfrm>
            <a:off x="6168176" y="3929162"/>
            <a:ext cx="5362044" cy="923925"/>
          </a:xfrm>
          <a:prstGeom prst="roundRect">
            <a:avLst>
              <a:gd name="adj" fmla="val 2685"/>
            </a:avLst>
          </a:prstGeom>
          <a:solidFill>
            <a:srgbClr val="3A3B3C"/>
          </a:solidFill>
          <a:ln/>
        </p:spPr>
      </p:sp>
      <p:sp>
        <p:nvSpPr>
          <p:cNvPr id="20" name="Text 18"/>
          <p:cNvSpPr/>
          <p:nvPr/>
        </p:nvSpPr>
        <p:spPr>
          <a:xfrm>
            <a:off x="6333470" y="4094460"/>
            <a:ext cx="503145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Nationwide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33470" y="4439741"/>
            <a:ext cx="503145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企业主 GI 团体方案</a:t>
            </a:r>
            <a:endParaRPr lang="zh-CN" sz="1300" dirty="0"/>
          </a:p>
        </p:txBody>
      </p:sp>
      <p:sp>
        <p:nvSpPr>
          <p:cNvPr id="22" name="Shape 20"/>
          <p:cNvSpPr/>
          <p:nvPr/>
        </p:nvSpPr>
        <p:spPr>
          <a:xfrm>
            <a:off x="661475" y="4997748"/>
            <a:ext cx="5362044" cy="923925"/>
          </a:xfrm>
          <a:prstGeom prst="roundRect">
            <a:avLst>
              <a:gd name="adj" fmla="val 2685"/>
            </a:avLst>
          </a:prstGeom>
          <a:solidFill>
            <a:srgbClr val="3A3B3C"/>
          </a:solidFill>
          <a:ln/>
        </p:spPr>
      </p:sp>
      <p:sp>
        <p:nvSpPr>
          <p:cNvPr id="23" name="Text 21"/>
          <p:cNvSpPr/>
          <p:nvPr/>
        </p:nvSpPr>
        <p:spPr>
          <a:xfrm>
            <a:off x="826769" y="5163046"/>
            <a:ext cx="503145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Allianz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6769" y="5508327"/>
            <a:ext cx="503145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全球网络 · 资产配置</a:t>
            </a:r>
            <a:endParaRPr lang="zh-CN" sz="1300" dirty="0"/>
          </a:p>
        </p:txBody>
      </p:sp>
      <p:sp>
        <p:nvSpPr>
          <p:cNvPr id="25" name="Shape 23"/>
          <p:cNvSpPr/>
          <p:nvPr/>
        </p:nvSpPr>
        <p:spPr>
          <a:xfrm>
            <a:off x="6168176" y="4997748"/>
            <a:ext cx="5362044" cy="923925"/>
          </a:xfrm>
          <a:prstGeom prst="roundRect">
            <a:avLst>
              <a:gd name="adj" fmla="val 2685"/>
            </a:avLst>
          </a:prstGeom>
          <a:solidFill>
            <a:srgbClr val="3A3B3C"/>
          </a:solidFill>
          <a:ln/>
        </p:spPr>
      </p:sp>
      <p:sp>
        <p:nvSpPr>
          <p:cNvPr id="26" name="Text 24"/>
          <p:cNvSpPr/>
          <p:nvPr/>
        </p:nvSpPr>
        <p:spPr>
          <a:xfrm>
            <a:off x="6333470" y="5163046"/>
            <a:ext cx="503145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Chubb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33470" y="5508327"/>
            <a:ext cx="503145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高端家庭综合保障</a:t>
            </a:r>
            <a:endParaRPr lang="zh-CN" sz="1300" dirty="0"/>
          </a:p>
        </p:txBody>
      </p:sp>
      <p:sp>
        <p:nvSpPr>
          <p:cNvPr id="28" name="Text 26"/>
          <p:cNvSpPr/>
          <p:nvPr/>
        </p:nvSpPr>
        <p:spPr>
          <a:xfrm>
            <a:off x="356682" y="6084391"/>
            <a:ext cx="11478330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1000" dirty="0">
                <a:solidFill>
                  <a:srgbClr val="C9A96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战略合作承运商 · Trusted by Hengsheng Group</a:t>
            </a:r>
            <a:endParaRPr lang="zh-CN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9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治理结构与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900" dirty="0">
                <a:solidFill>
                  <a:srgbClr val="C9A961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合规底色</a:t>
            </a:r>
            <a:endParaRPr lang="zh-CN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187898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三位一体的精英管理框架</a:t>
            </a:r>
            <a:endParaRPr lang="zh-CN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390404"/>
            <a:ext cx="5315512" cy="524966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zh-CN" altLang="en-US" sz="7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合规审计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zh-CN" alt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：CPA + 律师双重签字，季度财务披露</a:t>
            </a:r>
            <a:endParaRPr lang="zh-CN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zh-CN" altLang="en-US" sz="7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风险隔离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zh-CN" alt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：各业务板块独立核算，互不混淆</a:t>
            </a:r>
            <a:endParaRPr lang="zh-CN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zh-CN" altLang="en-US" sz="7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透明运营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zh-CN" alt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：财务数据按季度向核心团队公开</a:t>
            </a:r>
            <a:endParaRPr lang="zh-CN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zh-CN" altLang="en-US" sz="7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跨领域专家矩阵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zh-CN" alt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：金融 + 法律 + 科技三位一体</a:t>
            </a:r>
            <a:endParaRPr lang="zh-CN" sz="750" dirty="0"/>
          </a:p>
        </p:txBody>
      </p:sp>
      <p:sp>
        <p:nvSpPr>
          <p:cNvPr id="6" name="Text 3"/>
          <p:cNvSpPr/>
          <p:nvPr/>
        </p:nvSpPr>
        <p:spPr>
          <a:xfrm>
            <a:off x="6221058" y="3960515"/>
            <a:ext cx="5925096" cy="94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zh-CN" altLang="en-US" sz="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做保险，合规是命脉。恒晟不是草台班子——每一项决策都有文件可查、有专家背书。</a:t>
            </a:r>
            <a:endParaRPr lang="zh-CN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2212777"/>
            <a:ext cx="1088006" cy="287139"/>
          </a:xfrm>
          <a:prstGeom prst="roundRect">
            <a:avLst>
              <a:gd name="adj" fmla="val 7899"/>
            </a:avLst>
          </a:prstGeom>
          <a:solidFill>
            <a:srgbClr val="443D09"/>
          </a:solidFill>
          <a:ln/>
        </p:spPr>
      </p:sp>
      <p:sp>
        <p:nvSpPr>
          <p:cNvPr id="4" name="Text 1"/>
          <p:cNvSpPr/>
          <p:nvPr/>
        </p:nvSpPr>
        <p:spPr>
          <a:xfrm>
            <a:off x="774879" y="2269430"/>
            <a:ext cx="147078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11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模块三 · 产品</a:t>
            </a:r>
            <a:endParaRPr lang="zh-CN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257552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6 大产品线 · 覆盖客户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C9A961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全生命周期</a:t>
            </a:r>
            <a:endParaRPr lang="zh-CN" sz="3700" dirty="0"/>
          </a:p>
        </p:txBody>
      </p:sp>
      <p:sp>
        <p:nvSpPr>
          <p:cNvPr id="6" name="Text 3"/>
          <p:cNvSpPr/>
          <p:nvPr/>
        </p:nvSpPr>
        <p:spPr>
          <a:xfrm>
            <a:off x="661475" y="4040287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我们不是只卖 IUL——我们为华人家庭提供从年轻期保障到退休传承的完整财务解决方案。</a:t>
            </a:r>
            <a:endParaRPr lang="zh-CN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3427"/>
            <a:ext cx="10868745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3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产品矩阵全景</a:t>
            </a:r>
            <a:endParaRPr lang="zh-CN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110258"/>
            <a:ext cx="10868745" cy="79752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1808" y="1420416"/>
            <a:ext cx="177200" cy="17720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20459" y="1241028"/>
            <a:ext cx="10178994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IUL 指数型万能寿险</a:t>
            </a:r>
            <a:endParaRPr lang="zh-CN" sz="1150" dirty="0"/>
          </a:p>
        </p:txBody>
      </p:sp>
      <p:sp>
        <p:nvSpPr>
          <p:cNvPr id="6" name="Text 2"/>
          <p:cNvSpPr/>
          <p:nvPr/>
        </p:nvSpPr>
        <p:spPr>
          <a:xfrm>
            <a:off x="1220459" y="1469827"/>
            <a:ext cx="10178994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zh-CN" alt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适用：高净值家庭 / 退休规划</a:t>
            </a:r>
            <a:endParaRPr lang="zh-CN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zh-CN" alt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保本 + 跟随指数增长 + 税务递延，美国最受欢迎的储蓄型保险产品</a:t>
            </a:r>
            <a:endParaRPr lang="zh-CN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1981597"/>
            <a:ext cx="10868745" cy="79752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1808" y="2291755"/>
            <a:ext cx="177200" cy="17720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220459" y="2112367"/>
            <a:ext cx="10178994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Term 定期寿险</a:t>
            </a:r>
            <a:endParaRPr lang="zh-CN" sz="1150" dirty="0"/>
          </a:p>
        </p:txBody>
      </p:sp>
      <p:sp>
        <p:nvSpPr>
          <p:cNvPr id="10" name="Text 4"/>
          <p:cNvSpPr/>
          <p:nvPr/>
        </p:nvSpPr>
        <p:spPr>
          <a:xfrm>
            <a:off x="1220459" y="2341166"/>
            <a:ext cx="10178994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zh-CN" alt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适用：年轻家庭 / 房贷期</a:t>
            </a:r>
            <a:endParaRPr lang="zh-CN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zh-CN" alt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高杠杆低保费，以最小成本覆盖家庭最大风险敞口</a:t>
            </a:r>
            <a:endParaRPr lang="zh-CN" sz="9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2852936"/>
            <a:ext cx="10868745" cy="797520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1808" y="3163094"/>
            <a:ext cx="177200" cy="17720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220459" y="2983706"/>
            <a:ext cx="10178994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WL / UL 万能寿险</a:t>
            </a:r>
            <a:endParaRPr lang="zh-CN" sz="1150" dirty="0"/>
          </a:p>
        </p:txBody>
      </p:sp>
      <p:sp>
        <p:nvSpPr>
          <p:cNvPr id="14" name="Text 6"/>
          <p:cNvSpPr/>
          <p:nvPr/>
        </p:nvSpPr>
        <p:spPr>
          <a:xfrm>
            <a:off x="1220459" y="3212505"/>
            <a:ext cx="10178994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zh-CN" alt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适用：资产传承需求</a:t>
            </a:r>
            <a:endParaRPr lang="zh-CN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zh-CN" alt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终身保障 + 现金值积累，财富代际传递的核心工具</a:t>
            </a:r>
            <a:endParaRPr lang="zh-CN" sz="9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3724275"/>
            <a:ext cx="10868745" cy="797520"/>
          </a:xfrm>
          <a:prstGeom prst="rect">
            <a:avLst/>
          </a:prstGeom>
        </p:spPr>
      </p:pic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21808" y="4034433"/>
            <a:ext cx="177200" cy="177205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1220459" y="3855045"/>
            <a:ext cx="10178994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FUL 灵活型万能险</a:t>
            </a:r>
            <a:endParaRPr lang="zh-CN" sz="1150" dirty="0"/>
          </a:p>
        </p:txBody>
      </p:sp>
      <p:sp>
        <p:nvSpPr>
          <p:cNvPr id="18" name="Text 8"/>
          <p:cNvSpPr/>
          <p:nvPr/>
        </p:nvSpPr>
        <p:spPr>
          <a:xfrm>
            <a:off x="1220459" y="4083844"/>
            <a:ext cx="10178994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zh-CN" alt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适用：复杂财务结构客户</a:t>
            </a:r>
            <a:endParaRPr lang="zh-CN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zh-CN" alt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灵活缴费 + 灵活提取，适应企业主现金流波动</a:t>
            </a:r>
            <a:endParaRPr lang="zh-CN" sz="90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1475" y="4595614"/>
            <a:ext cx="10868745" cy="797520"/>
          </a:xfrm>
          <a:prstGeom prst="rect">
            <a:avLst/>
          </a:prstGeom>
        </p:spPr>
      </p:pic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21808" y="4905772"/>
            <a:ext cx="177200" cy="177205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1220459" y="4726384"/>
            <a:ext cx="10178994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年金</a:t>
            </a:r>
            <a:endParaRPr lang="zh-CN" sz="1150" dirty="0"/>
          </a:p>
        </p:txBody>
      </p:sp>
      <p:sp>
        <p:nvSpPr>
          <p:cNvPr id="22" name="Text 10"/>
          <p:cNvSpPr/>
          <p:nvPr/>
        </p:nvSpPr>
        <p:spPr>
          <a:xfrm>
            <a:off x="1220459" y="4955183"/>
            <a:ext cx="10178994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zh-CN" alt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适用：退休资金规划</a:t>
            </a:r>
            <a:endParaRPr lang="zh-CN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zh-CN" alt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锁定终身收入流，对冲长寿风险，退休生活确定性保障</a:t>
            </a:r>
            <a:endParaRPr lang="zh-CN" sz="900" dirty="0"/>
          </a:p>
        </p:txBody>
      </p:sp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61475" y="5466953"/>
            <a:ext cx="10868745" cy="797520"/>
          </a:xfrm>
          <a:prstGeom prst="rect">
            <a:avLst/>
          </a:prstGeom>
        </p:spPr>
      </p:pic>
      <p:pic>
        <p:nvPicPr>
          <p:cNvPr id="24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21808" y="5777111"/>
            <a:ext cx="177200" cy="177205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1220459" y="5597723"/>
            <a:ext cx="10178994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GI 整体人身保险</a:t>
            </a:r>
            <a:endParaRPr lang="zh-CN" sz="1150" dirty="0"/>
          </a:p>
        </p:txBody>
      </p:sp>
      <p:sp>
        <p:nvSpPr>
          <p:cNvPr id="26" name="Text 12"/>
          <p:cNvSpPr/>
          <p:nvPr/>
        </p:nvSpPr>
        <p:spPr>
          <a:xfrm>
            <a:off x="1220459" y="5826522"/>
            <a:ext cx="10178994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zh-CN" alt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适用：中小企业主</a:t>
            </a:r>
            <a:endParaRPr lang="zh-CN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zh-CN" alt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团体福利 + Key-Person 保险，企业风险管理必备配置</a:t>
            </a:r>
            <a:endParaRPr lang="zh-CN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1741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National Life Group · 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3350" dirty="0">
                <a:solidFill>
                  <a:srgbClr val="C9A961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战略联盟独家价值</a:t>
            </a:r>
            <a:endParaRPr lang="zh-CN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514971"/>
            <a:ext cx="3532397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6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为什么 NLG 是恒晟的战略首选？</a:t>
            </a:r>
            <a:endParaRPr lang="zh-CN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1937742"/>
            <a:ext cx="3532397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zh-CN" alt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恒晟与 NLG 建立了正式战略合作协议，经纪人享有普通代理人无法获得的专属资源。</a:t>
            </a:r>
            <a:endParaRPr lang="zh-CN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425" y="2615803"/>
            <a:ext cx="3551446" cy="9833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0821" y="2634853"/>
            <a:ext cx="332305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独家产品优势</a:t>
            </a:r>
            <a:endParaRPr lang="zh-CN" sz="1650" dirty="0"/>
          </a:p>
        </p:txBody>
      </p:sp>
      <p:sp>
        <p:nvSpPr>
          <p:cNvPr id="7" name="Text 4"/>
          <p:cNvSpPr/>
          <p:nvPr/>
        </p:nvSpPr>
        <p:spPr>
          <a:xfrm>
            <a:off x="870821" y="3057624"/>
            <a:ext cx="3323050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zh-CN" alt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花同样的保费，恒晟客户获得更高保额——这是合同层面的差异，不是话术。</a:t>
            </a:r>
            <a:endParaRPr lang="zh-CN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25" y="3871516"/>
            <a:ext cx="3551446" cy="98335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0821" y="3890566"/>
            <a:ext cx="332305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加速审批通道</a:t>
            </a:r>
            <a:endParaRPr lang="zh-CN" sz="1650" dirty="0"/>
          </a:p>
        </p:txBody>
      </p:sp>
      <p:sp>
        <p:nvSpPr>
          <p:cNvPr id="10" name="Text 6"/>
          <p:cNvSpPr/>
          <p:nvPr/>
        </p:nvSpPr>
        <p:spPr>
          <a:xfrm>
            <a:off x="870821" y="4313337"/>
            <a:ext cx="3323050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zh-CN" alt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保单审批初步反馈 24–48 小时，非恒晟经纪人无法使用此通道。</a:t>
            </a:r>
            <a:endParaRPr lang="zh-CN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2425" y="5127228"/>
            <a:ext cx="3551446" cy="98335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70821" y="5146278"/>
            <a:ext cx="332305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专属培训资源</a:t>
            </a:r>
            <a:endParaRPr lang="zh-CN" sz="1650" dirty="0"/>
          </a:p>
        </p:txBody>
      </p:sp>
      <p:sp>
        <p:nvSpPr>
          <p:cNvPr id="13" name="Text 8"/>
          <p:cNvSpPr/>
          <p:nvPr/>
        </p:nvSpPr>
        <p:spPr>
          <a:xfrm>
            <a:off x="870821" y="5569049"/>
            <a:ext cx="3323050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zh-CN" alt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恒晟 × NLG 联合培训，产品深度与销售技术同步提升，仅对恒晟经纪人开放。</a:t>
            </a:r>
            <a:endParaRPr lang="zh-CN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8120" y="1852712"/>
            <a:ext cx="6918350" cy="39204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3846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4 大 AI 工具矩阵 · 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C9A961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把经纪人产能提升 5–12 倍</a:t>
            </a:r>
            <a:endParaRPr lang="zh-CN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0713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这是恒晟与 99% 传统 GA 的本质差异——我们用 AI 武装每一位经纪人。</a:t>
            </a:r>
            <a:endParaRPr lang="zh-CN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822178"/>
            <a:ext cx="1117572" cy="6906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749080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NL Quote · 智能报价</a:t>
            </a:r>
            <a:endParaRPr lang="zh-CN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157762"/>
            <a:ext cx="25399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报价时间从 30–60 分钟压缩至 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2 分钟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。客户当场决策，转化率显著提升。</a:t>
            </a:r>
            <a:endParaRPr lang="zh-CN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2822178"/>
            <a:ext cx="1117572" cy="6906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37645" y="3749080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AI 训练 · 陪练平台</a:t>
            </a:r>
            <a:endParaRPr lang="zh-CN" sz="1850" dirty="0"/>
          </a:p>
        </p:txBody>
      </p:sp>
      <p:sp>
        <p:nvSpPr>
          <p:cNvPr id="9" name="Text 5"/>
          <p:cNvSpPr/>
          <p:nvPr/>
        </p:nvSpPr>
        <p:spPr>
          <a:xfrm>
            <a:off x="3437645" y="4157762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新人培训周期从 6 个月缩短至 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6 周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。标准化内容，可复制的学习路径。</a:t>
            </a:r>
            <a:endParaRPr lang="zh-CN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2822178"/>
            <a:ext cx="1117572" cy="6906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3915" y="3749080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AI Judge · 评估系统</a:t>
            </a:r>
            <a:endParaRPr lang="zh-CN" sz="1850" dirty="0"/>
          </a:p>
        </p:txBody>
      </p:sp>
      <p:sp>
        <p:nvSpPr>
          <p:cNvPr id="12" name="Text 7"/>
          <p:cNvSpPr/>
          <p:nvPr/>
        </p:nvSpPr>
        <p:spPr>
          <a:xfrm>
            <a:off x="6213915" y="4157762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实时对话分析 + 销售复盘，帮助经纪人识别成交盲点，持续迭代话术。</a:t>
            </a:r>
            <a:endParaRPr lang="zh-CN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2822178"/>
            <a:ext cx="1117572" cy="69066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90184" y="3749080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SmartFin · 财务系统</a:t>
            </a:r>
            <a:endParaRPr lang="zh-CN" sz="1850" dirty="0"/>
          </a:p>
        </p:txBody>
      </p:sp>
      <p:sp>
        <p:nvSpPr>
          <p:cNvPr id="15" name="Text 9"/>
          <p:cNvSpPr/>
          <p:nvPr/>
        </p:nvSpPr>
        <p:spPr>
          <a:xfrm>
            <a:off x="8990184" y="4157762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佣金自动核算 + 实时看板，每一笔收入透明可查，结算清晰无争议。</a:t>
            </a:r>
            <a:endParaRPr lang="zh-CN" sz="1450" dirty="0"/>
          </a:p>
        </p:txBody>
      </p:sp>
      <p:sp>
        <p:nvSpPr>
          <p:cNvPr id="16" name="Text 10"/>
          <p:cNvSpPr/>
          <p:nvPr/>
        </p:nvSpPr>
        <p:spPr>
          <a:xfrm>
            <a:off x="356682" y="5277644"/>
            <a:ext cx="1147833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zh-CN" altLang="en-US" sz="11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数据来源：恒晟集团内部 AI 科技赋能进度汇报（2026 Q2 实测）</a:t>
            </a:r>
            <a:endParaRPr lang="zh-CN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80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技术架构 · 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C9A961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双体结构 + 数据飞轮</a:t>
            </a:r>
            <a:endParaRPr lang="zh-CN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85988"/>
            <a:ext cx="6903269" cy="27062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6784" y="2318710"/>
            <a:ext cx="1263687" cy="203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zh-CN" altLang="en-US" sz="12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收集客户数据</a:t>
            </a:r>
            <a:endParaRPr lang="zh-CN" sz="1250" dirty="0"/>
          </a:p>
        </p:txBody>
      </p:sp>
      <p:sp>
        <p:nvSpPr>
          <p:cNvPr id="5" name="Text 2"/>
          <p:cNvSpPr/>
          <p:nvPr/>
        </p:nvSpPr>
        <p:spPr>
          <a:xfrm>
            <a:off x="6135623" y="2318710"/>
            <a:ext cx="1263687" cy="203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优化AI模型</a:t>
            </a:r>
            <a:endParaRPr lang="zh-CN" sz="1250" dirty="0"/>
          </a:p>
        </p:txBody>
      </p:sp>
      <p:sp>
        <p:nvSpPr>
          <p:cNvPr id="6" name="Text 3"/>
          <p:cNvSpPr/>
          <p:nvPr/>
        </p:nvSpPr>
        <p:spPr>
          <a:xfrm>
            <a:off x="6135623" y="4556394"/>
            <a:ext cx="1263687" cy="203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提升经纪效率</a:t>
            </a:r>
            <a:endParaRPr lang="zh-CN" sz="1250" dirty="0"/>
          </a:p>
        </p:txBody>
      </p:sp>
      <p:sp>
        <p:nvSpPr>
          <p:cNvPr id="7" name="Text 4"/>
          <p:cNvSpPr/>
          <p:nvPr/>
        </p:nvSpPr>
        <p:spPr>
          <a:xfrm>
            <a:off x="826784" y="4556394"/>
            <a:ext cx="1263687" cy="203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zh-CN" altLang="en-US" sz="12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获取更多客户</a:t>
            </a:r>
            <a:endParaRPr lang="zh-CN" sz="1250" dirty="0"/>
          </a:p>
        </p:txBody>
      </p:sp>
      <p:sp>
        <p:nvSpPr>
          <p:cNvPr id="8" name="Text 5"/>
          <p:cNvSpPr/>
          <p:nvPr/>
        </p:nvSpPr>
        <p:spPr>
          <a:xfrm>
            <a:off x="661475" y="5104904"/>
            <a:ext cx="6903269" cy="483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数据飞轮：每一位经纪人的使用数据，都在让整个平台的 AI 模型更智能——这是平台型公司的核心护城河。</a:t>
            </a:r>
            <a:endParaRPr lang="zh-CN" sz="1150" dirty="0"/>
          </a:p>
        </p:txBody>
      </p:sp>
      <p:sp>
        <p:nvSpPr>
          <p:cNvPr id="9" name="Text 6"/>
          <p:cNvSpPr/>
          <p:nvPr/>
        </p:nvSpPr>
        <p:spPr>
          <a:xfrm>
            <a:off x="8032251" y="1651198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IAIOS 技术框架</a:t>
            </a:r>
            <a:endParaRPr lang="zh-CN" sz="1850" dirty="0"/>
          </a:p>
        </p:txBody>
      </p:sp>
      <p:sp>
        <p:nvSpPr>
          <p:cNvPr id="10" name="Shape 7"/>
          <p:cNvSpPr/>
          <p:nvPr/>
        </p:nvSpPr>
        <p:spPr>
          <a:xfrm>
            <a:off x="8032251" y="2159099"/>
            <a:ext cx="3504219" cy="1467148"/>
          </a:xfrm>
          <a:prstGeom prst="roundRect">
            <a:avLst>
              <a:gd name="adj" fmla="val 1933"/>
            </a:avLst>
          </a:prstGeom>
          <a:solidFill>
            <a:srgbClr val="3A3B3C"/>
          </a:solidFill>
          <a:ln/>
        </p:spPr>
      </p:sp>
      <p:sp>
        <p:nvSpPr>
          <p:cNvPr id="11" name="Text 8"/>
          <p:cNvSpPr/>
          <p:nvPr/>
        </p:nvSpPr>
        <p:spPr>
          <a:xfrm>
            <a:off x="8221258" y="2348111"/>
            <a:ext cx="3126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Tech Co（恒晟科技）</a:t>
            </a:r>
            <a:endParaRPr lang="zh-CN" sz="1850" dirty="0"/>
          </a:p>
        </p:txBody>
      </p:sp>
      <p:sp>
        <p:nvSpPr>
          <p:cNvPr id="12" name="Text 9"/>
          <p:cNvSpPr/>
          <p:nvPr/>
        </p:nvSpPr>
        <p:spPr>
          <a:xfrm>
            <a:off x="8221258" y="2832398"/>
            <a:ext cx="3126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工具研发 · 数据中台 · 平台基础设施</a:t>
            </a:r>
            <a:endParaRPr lang="zh-CN" sz="1450" dirty="0"/>
          </a:p>
        </p:txBody>
      </p:sp>
      <p:sp>
        <p:nvSpPr>
          <p:cNvPr id="13" name="Shape 10"/>
          <p:cNvSpPr/>
          <p:nvPr/>
        </p:nvSpPr>
        <p:spPr>
          <a:xfrm>
            <a:off x="8032251" y="3815259"/>
            <a:ext cx="3504219" cy="1164729"/>
          </a:xfrm>
          <a:prstGeom prst="roundRect">
            <a:avLst>
              <a:gd name="adj" fmla="val 2434"/>
            </a:avLst>
          </a:prstGeom>
          <a:solidFill>
            <a:srgbClr val="3A3B3C"/>
          </a:solidFill>
          <a:ln/>
        </p:spPr>
      </p:sp>
      <p:sp>
        <p:nvSpPr>
          <p:cNvPr id="14" name="Text 11"/>
          <p:cNvSpPr/>
          <p:nvPr/>
        </p:nvSpPr>
        <p:spPr>
          <a:xfrm>
            <a:off x="8221258" y="4004270"/>
            <a:ext cx="3126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Ops Co（恒晟业务）</a:t>
            </a:r>
            <a:endParaRPr lang="zh-CN" sz="1850" dirty="0"/>
          </a:p>
        </p:txBody>
      </p:sp>
      <p:sp>
        <p:nvSpPr>
          <p:cNvPr id="15" name="Text 12"/>
          <p:cNvSpPr/>
          <p:nvPr/>
        </p:nvSpPr>
        <p:spPr>
          <a:xfrm>
            <a:off x="8221258" y="4488557"/>
            <a:ext cx="3126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经纪运营 · 承运商管理 · 客户服务体系</a:t>
            </a:r>
            <a:endParaRPr lang="zh-CN" sz="1450" dirty="0"/>
          </a:p>
        </p:txBody>
      </p:sp>
      <p:sp>
        <p:nvSpPr>
          <p:cNvPr id="16" name="Text 13"/>
          <p:cNvSpPr/>
          <p:nvPr/>
        </p:nvSpPr>
        <p:spPr>
          <a:xfrm>
            <a:off x="8032251" y="5192613"/>
            <a:ext cx="350421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双层架构实现技术与业务分离，每个模块独立核算，风险隔离清晰。AI 是我们的同事，不是 PPT 上的图标。</a:t>
            </a:r>
            <a:endParaRPr lang="zh-CN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2508151"/>
            <a:ext cx="1390218" cy="287139"/>
          </a:xfrm>
          <a:prstGeom prst="roundRect">
            <a:avLst>
              <a:gd name="adj" fmla="val 7899"/>
            </a:avLst>
          </a:prstGeom>
          <a:solidFill>
            <a:srgbClr val="443D09"/>
          </a:solidFill>
          <a:ln/>
        </p:spPr>
      </p:sp>
      <p:sp>
        <p:nvSpPr>
          <p:cNvPr id="4" name="Text 1"/>
          <p:cNvSpPr/>
          <p:nvPr/>
        </p:nvSpPr>
        <p:spPr>
          <a:xfrm>
            <a:off x="774879" y="2564805"/>
            <a:ext cx="177299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11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模块四 · 合作模式</a:t>
            </a:r>
            <a:endParaRPr lang="zh-CN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287089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两条职业路径 · 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C9A961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不是单选题</a:t>
            </a:r>
            <a:endParaRPr lang="zh-CN" sz="3700" dirty="0"/>
          </a:p>
        </p:txBody>
      </p:sp>
      <p:sp>
        <p:nvSpPr>
          <p:cNvPr id="6" name="Text 3"/>
          <p:cNvSpPr/>
          <p:nvPr/>
        </p:nvSpPr>
        <p:spPr>
          <a:xfrm>
            <a:off x="661475" y="3745012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个人产能路线 vs. 团队领导路线——两条路径可以切换，对应两种人生规划，恒晟都有完整的支撑体系。</a:t>
            </a:r>
            <a:endParaRPr lang="zh-CN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571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双路径职业发展框架</a:t>
            </a:r>
            <a:endParaRPr lang="zh-CN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2331244"/>
            <a:ext cx="5476043" cy="3069630"/>
          </a:xfrm>
          <a:prstGeom prst="roundRect">
            <a:avLst>
              <a:gd name="adj" fmla="val 924"/>
            </a:avLst>
          </a:prstGeom>
          <a:solidFill>
            <a:srgbClr val="C9A961"/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520255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个人产能路线</a:t>
            </a:r>
            <a:endParaRPr lang="zh-CN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3004542"/>
            <a:ext cx="50980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专注销售，深耕高净值客群，以个人专业度换取高单价收入。</a:t>
            </a:r>
            <a:endParaRPr lang="zh-CN" sz="1450" dirty="0"/>
          </a:p>
        </p:txBody>
      </p:sp>
      <p:sp>
        <p:nvSpPr>
          <p:cNvPr id="6" name="Text 4"/>
          <p:cNvSpPr/>
          <p:nvPr/>
        </p:nvSpPr>
        <p:spPr>
          <a:xfrm>
            <a:off x="714357" y="3779441"/>
            <a:ext cx="5098029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000000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6 周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：AI 系统辅助快速上手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000000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第 1 年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：月均产能目标 $5K–$10K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000000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第 3 年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：冲击月均 $30K+，高净值客户积累</a:t>
            </a:r>
            <a:endParaRPr lang="zh-CN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252025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团队领导路线</a:t>
            </a:r>
            <a:endParaRPr lang="zh-CN" sz="1850" dirty="0"/>
          </a:p>
        </p:txBody>
      </p:sp>
      <p:sp>
        <p:nvSpPr>
          <p:cNvPr id="8" name="Text 6"/>
          <p:cNvSpPr/>
          <p:nvPr/>
        </p:nvSpPr>
        <p:spPr>
          <a:xfrm>
            <a:off x="6332776" y="3004542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销售打底，同步招募与培养伙伴，建立多代际收益的团队资产。</a:t>
            </a:r>
            <a:endParaRPr lang="zh-CN" sz="1450" dirty="0"/>
          </a:p>
        </p:txBody>
      </p:sp>
      <p:sp>
        <p:nvSpPr>
          <p:cNvPr id="9" name="Text 7"/>
          <p:cNvSpPr/>
          <p:nvPr/>
        </p:nvSpPr>
        <p:spPr>
          <a:xfrm>
            <a:off x="6332776" y="3779441"/>
            <a:ext cx="5203794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第 1 年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：个人业绩 + 0–3 位团队成员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第 2 年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：团队 5–10 人，代差收益启动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第 3 年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：10+ 人团队，收入开始杠杆化</a:t>
            </a:r>
            <a:endParaRPr lang="zh-CN" sz="1450" dirty="0"/>
          </a:p>
        </p:txBody>
      </p:sp>
      <p:sp>
        <p:nvSpPr>
          <p:cNvPr id="10" name="Text 8"/>
          <p:cNvSpPr/>
          <p:nvPr/>
        </p:nvSpPr>
        <p:spPr>
          <a:xfrm>
            <a:off x="6332776" y="4988917"/>
            <a:ext cx="5813379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两条路径均可在恒晟内部自由切换，不强制，不锁定。</a:t>
            </a:r>
            <a:endParaRPr lang="zh-CN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15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佣金体系 V1 · 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C9A961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透明、可预测、无水分</a:t>
            </a:r>
            <a:endParaRPr lang="zh-CN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7023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无底薪，纯业绩奖励——但我们给你看清楚每一分钱是怎么算的。</a:t>
            </a:r>
            <a:endParaRPr lang="zh-CN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97906"/>
            <a:ext cx="5203794" cy="37458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32776" y="22742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关键规则</a:t>
            </a:r>
            <a:endParaRPr lang="zh-CN" sz="1850" dirty="0"/>
          </a:p>
        </p:txBody>
      </p:sp>
      <p:sp>
        <p:nvSpPr>
          <p:cNvPr id="6" name="Text 3"/>
          <p:cNvSpPr/>
          <p:nvPr/>
        </p:nvSpPr>
        <p:spPr>
          <a:xfrm>
            <a:off x="6332776" y="2758579"/>
            <a:ext cx="5203794" cy="1946672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平台总佣金 125%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：恒晟直签 NLG，跳过中间层，更多分配给经纪人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代差池（9 代总和封顶 38%）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：团队出单，你持续分享收益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Fast Track 出分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（恒晟专属）：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​"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$5,000 → Rank 50 / $10,000 → Rank 60 / $25,000 → Rank 70</a:t>
            </a:r>
            <a:endParaRPr lang="zh-CN" sz="1450" dirty="0"/>
          </a:p>
        </p:txBody>
      </p:sp>
      <p:sp>
        <p:nvSpPr>
          <p:cNvPr id="7" name="Text 4"/>
          <p:cNvSpPr/>
          <p:nvPr/>
        </p:nvSpPr>
        <p:spPr>
          <a:xfrm>
            <a:off x="6332776" y="4875312"/>
            <a:ext cx="5813379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完整规则见《恒晟佣金系统最终规则 V1》。术语规范："分佣比例"。</a:t>
            </a:r>
            <a:endParaRPr lang="zh-CN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076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Proven System · 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C9A961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可复制的赋能体系</a:t>
            </a:r>
            <a:endParaRPr lang="zh-CN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5943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你不需要是天才，你只需要能被系统教会。恒晟的 Proven System 把新人从零带到独立运营。</a:t>
            </a:r>
            <a:endParaRPr lang="zh-CN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74478"/>
            <a:ext cx="5434373" cy="7560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482" y="3119537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Fast Track 快速通道</a:t>
            </a:r>
            <a:endParaRPr lang="zh-CN" sz="1850" dirty="0"/>
          </a:p>
        </p:txBody>
      </p:sp>
      <p:sp>
        <p:nvSpPr>
          <p:cNvPr id="6" name="Text 3"/>
          <p:cNvSpPr/>
          <p:nvPr/>
        </p:nvSpPr>
        <p:spPr>
          <a:xfrm>
            <a:off x="850482" y="3528219"/>
            <a:ext cx="50563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标准化业绩目标 + 分阶段培训流程，6 周内完成从入门到首单</a:t>
            </a:r>
            <a:endParaRPr lang="zh-CN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2174478"/>
            <a:ext cx="5434373" cy="7560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84854" y="3119537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Supervise Sale 实习单</a:t>
            </a:r>
            <a:endParaRPr lang="zh-CN" sz="1850" dirty="0"/>
          </a:p>
        </p:txBody>
      </p:sp>
      <p:sp>
        <p:nvSpPr>
          <p:cNvPr id="9" name="Text 5"/>
          <p:cNvSpPr/>
          <p:nvPr/>
        </p:nvSpPr>
        <p:spPr>
          <a:xfrm>
            <a:off x="6284854" y="3528219"/>
            <a:ext cx="50563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培训师一对一全程带教，第一张保单有专家同行，不孤军奋战</a:t>
            </a:r>
            <a:endParaRPr lang="zh-CN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4322068"/>
            <a:ext cx="5434373" cy="7560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0482" y="5267127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跨区域培训师网络</a:t>
            </a:r>
            <a:endParaRPr lang="zh-CN" sz="1850" dirty="0"/>
          </a:p>
        </p:txBody>
      </p:sp>
      <p:sp>
        <p:nvSpPr>
          <p:cNvPr id="12" name="Text 7"/>
          <p:cNvSpPr/>
          <p:nvPr/>
        </p:nvSpPr>
        <p:spPr>
          <a:xfrm>
            <a:off x="850482" y="5675809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全国范围内"借力"机制，跨区域资源共享，团队协作无边界</a:t>
            </a:r>
            <a:endParaRPr lang="zh-CN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4322068"/>
            <a:ext cx="5434373" cy="7560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84854" y="5267127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全方位培训资源</a:t>
            </a:r>
            <a:endParaRPr lang="zh-CN" sz="1850" dirty="0"/>
          </a:p>
        </p:txBody>
      </p:sp>
      <p:sp>
        <p:nvSpPr>
          <p:cNvPr id="15" name="Text 9"/>
          <p:cNvSpPr/>
          <p:nvPr/>
        </p:nvSpPr>
        <p:spPr>
          <a:xfrm>
            <a:off x="6284854" y="5675809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线上课程 + 线下办公室 + NLG 联合培训，立体学习体系</a:t>
            </a:r>
            <a:endParaRPr lang="zh-CN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2026-08-22T18:52:21Z</dcterms:created>
  <dcterms:modified xsi:type="dcterms:W3CDTF">2026-08-22T18:52:21Z</dcterms:modified>
</cp:coreProperties>
</file>