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 b="0">
                <a:solidFill>
                  <a:srgbClr val="666666"/>
                </a:solidFill>
                <a:latin typeface="PingFang SC"/>
              </a:rPr>
              <a:t>恒晟金融 · 销售沟通 ABC 黄金法则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4400" b="1">
                <a:solidFill>
                  <a:srgbClr val="000000"/>
                </a:solidFill>
                <a:latin typeface="PingFang SC"/>
              </a:rPr>
              <a:t>新人入门第一课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0">
                <a:solidFill>
                  <a:srgbClr val="333333"/>
                </a:solidFill>
                <a:latin typeface="PingFang SC"/>
              </a:rPr>
              <a:t>A 出专业 · B 做关系 · C 给需求 = 三角平衡, 效率倍增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666666"/>
                </a:solidFill>
                <a:latin typeface="PingFang SC"/>
              </a:rPr>
              <a:t>📚 课程大纲 · 配套考试 v3.0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000000"/>
                </a:solidFill>
                <a:latin typeface="PingFang SC"/>
              </a:rPr>
              <a:t>ABC 三角 · 三个角色一个不能少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A87E2E"/>
                </a:solidFill>
                <a:latin typeface="PingFang SC"/>
              </a:rPr>
              <a:t>借力不费力 · 费力不专业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3474720" cy="54864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2A4A8C"/>
                </a:solidFill>
                <a:latin typeface="PingFang SC"/>
              </a:rPr>
              <a:t>A 顾问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500" b="1">
                <a:solidFill>
                  <a:srgbClr val="2A4A8C"/>
                </a:solidFill>
              </a:rPr>
              <a:t>● </a:t>
            </a:r>
            <a:r>
              <a:rPr sz="1500">
                <a:solidFill>
                  <a:srgbClr val="000000"/>
                </a:solidFill>
                <a:latin typeface="PingFang SC"/>
              </a:rPr>
              <a:t>权威 / 专业 / 客观</a:t>
            </a:r>
          </a:p>
          <a:p>
            <a:pPr>
              <a:lnSpc>
                <a:spcPct val="150000"/>
              </a:lnSpc>
            </a:pPr>
            <a:r>
              <a:rPr sz="1500" b="1">
                <a:solidFill>
                  <a:srgbClr val="2A4A8C"/>
                </a:solidFill>
              </a:rPr>
              <a:t>● </a:t>
            </a:r>
            <a:r>
              <a:rPr sz="1500">
                <a:solidFill>
                  <a:srgbClr val="000000"/>
                </a:solidFill>
                <a:latin typeface="PingFang SC"/>
              </a:rPr>
              <a:t>讲产品方案</a:t>
            </a:r>
          </a:p>
          <a:p>
            <a:pPr>
              <a:lnSpc>
                <a:spcPct val="150000"/>
              </a:lnSpc>
            </a:pPr>
            <a:r>
              <a:rPr sz="1500" b="1">
                <a:solidFill>
                  <a:srgbClr val="2A4A8C"/>
                </a:solidFill>
              </a:rPr>
              <a:t>● </a:t>
            </a:r>
            <a:r>
              <a:rPr sz="1500">
                <a:solidFill>
                  <a:srgbClr val="000000"/>
                </a:solidFill>
                <a:latin typeface="PingFang SC"/>
              </a:rPr>
              <a:t>A 决定专业度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2011680"/>
            <a:ext cx="3474720" cy="54864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333333"/>
                </a:solidFill>
                <a:latin typeface="PingFang SC"/>
              </a:rPr>
              <a:t>B 桥梁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74320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500" b="1">
                <a:solidFill>
                  <a:srgbClr val="333333"/>
                </a:solidFill>
              </a:rPr>
              <a:t>● </a:t>
            </a:r>
            <a:r>
              <a:rPr sz="1500">
                <a:solidFill>
                  <a:srgbClr val="000000"/>
                </a:solidFill>
                <a:latin typeface="PingFang SC"/>
              </a:rPr>
              <a:t>关系 / 信任 / 撮合</a:t>
            </a:r>
          </a:p>
          <a:p>
            <a:pPr>
              <a:lnSpc>
                <a:spcPct val="150000"/>
              </a:lnSpc>
            </a:pPr>
            <a:r>
              <a:rPr sz="1500" b="1">
                <a:solidFill>
                  <a:srgbClr val="333333"/>
                </a:solidFill>
              </a:rPr>
              <a:t>● </a:t>
            </a:r>
            <a:r>
              <a:rPr sz="1500">
                <a:solidFill>
                  <a:srgbClr val="000000"/>
                </a:solidFill>
                <a:latin typeface="PingFang SC"/>
              </a:rPr>
              <a:t>串场 + 情感连接</a:t>
            </a:r>
          </a:p>
          <a:p>
            <a:pPr>
              <a:lnSpc>
                <a:spcPct val="150000"/>
              </a:lnSpc>
            </a:pPr>
            <a:r>
              <a:rPr sz="1500" b="1">
                <a:solidFill>
                  <a:srgbClr val="333333"/>
                </a:solidFill>
              </a:rPr>
              <a:t>● </a:t>
            </a:r>
            <a:r>
              <a:rPr sz="1500">
                <a:solidFill>
                  <a:srgbClr val="000000"/>
                </a:solidFill>
                <a:latin typeface="PingFang SC"/>
              </a:rPr>
              <a:t>B 决定 50% 成交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2011680"/>
            <a:ext cx="3474720" cy="54864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0116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A87E2E"/>
                </a:solidFill>
                <a:latin typeface="PingFang SC"/>
              </a:rPr>
              <a:t>C 客户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74320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500" b="1">
                <a:solidFill>
                  <a:srgbClr val="A87E2E"/>
                </a:solidFill>
              </a:rPr>
              <a:t>● </a:t>
            </a:r>
            <a:r>
              <a:rPr sz="1500">
                <a:solidFill>
                  <a:srgbClr val="000000"/>
                </a:solidFill>
                <a:latin typeface="PingFang SC"/>
              </a:rPr>
              <a:t>需求 / 决策 / 付费</a:t>
            </a:r>
          </a:p>
          <a:p>
            <a:pPr>
              <a:lnSpc>
                <a:spcPct val="150000"/>
              </a:lnSpc>
            </a:pPr>
            <a:r>
              <a:rPr sz="1500" b="1">
                <a:solidFill>
                  <a:srgbClr val="A87E2E"/>
                </a:solidFill>
              </a:rPr>
              <a:t>● </a:t>
            </a:r>
            <a:r>
              <a:rPr sz="1500">
                <a:solidFill>
                  <a:srgbClr val="000000"/>
                </a:solidFill>
                <a:latin typeface="PingFang SC"/>
              </a:rPr>
              <a:t>买单决策</a:t>
            </a:r>
          </a:p>
          <a:p>
            <a:pPr>
              <a:lnSpc>
                <a:spcPct val="150000"/>
              </a:lnSpc>
            </a:pPr>
            <a:r>
              <a:rPr sz="1500" b="1">
                <a:solidFill>
                  <a:srgbClr val="A87E2E"/>
                </a:solidFill>
              </a:rPr>
              <a:t>● </a:t>
            </a:r>
            <a:r>
              <a:rPr sz="1500">
                <a:solidFill>
                  <a:srgbClr val="000000"/>
                </a:solidFill>
                <a:latin typeface="PingFang SC"/>
              </a:rPr>
              <a:t>C 决定签不签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B14E39"/>
                </a:solidFill>
                <a:latin typeface="PingFang SC"/>
              </a:rPr>
              <a:t>新人最容易踩坑: 自己一个人干 A+B+C 三个角色 → 专业度被质疑 + 转化率低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000000"/>
                </a:solidFill>
                <a:latin typeface="PingFang SC"/>
              </a:rPr>
              <a:t>B 决定 50% 的成交概率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666666"/>
                </a:solidFill>
                <a:latin typeface="PingFang SC"/>
              </a:rPr>
              <a:t>讲师原话: "B 决定 50%, 不是 A"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800" b="1">
                <a:solidFill>
                  <a:srgbClr val="2A4A8C"/>
                </a:solidFill>
              </a:rPr>
              <a:t>● </a:t>
            </a:r>
            <a:r>
              <a:rPr sz="1800">
                <a:solidFill>
                  <a:srgbClr val="000000"/>
                </a:solidFill>
                <a:latin typeface="PingFang SC"/>
              </a:rPr>
              <a:t>● B 桥梁 50% — 关系+信任+撮合, 串场, 推崇 A, 情感连接 (B 桥梁)</a:t>
            </a:r>
          </a:p>
          <a:p>
            <a:pPr>
              <a:lnSpc>
                <a:spcPct val="150000"/>
              </a:lnSpc>
            </a:pPr>
            <a:r>
              <a:rPr sz="1800" b="1">
                <a:solidFill>
                  <a:srgbClr val="2A4A8C"/>
                </a:solidFill>
              </a:rPr>
              <a:t>● </a:t>
            </a:r>
            <a:r>
              <a:rPr sz="1800">
                <a:solidFill>
                  <a:srgbClr val="000000"/>
                </a:solidFill>
                <a:latin typeface="PingFang SC"/>
              </a:rPr>
              <a:t>● B 桥梁 30% — 关系+信任+撮合, 串场, 推崇 A, 情感连接 (座位 + 环境)</a:t>
            </a:r>
          </a:p>
          <a:p>
            <a:pPr>
              <a:lnSpc>
                <a:spcPct val="150000"/>
              </a:lnSpc>
            </a:pPr>
            <a:r>
              <a:rPr sz="1800" b="1">
                <a:solidFill>
                  <a:srgbClr val="2A4A8C"/>
                </a:solidFill>
              </a:rPr>
              <a:t>● </a:t>
            </a:r>
            <a:r>
              <a:rPr sz="1800">
                <a:solidFill>
                  <a:srgbClr val="000000"/>
                </a:solidFill>
                <a:latin typeface="PingFang SC"/>
              </a:rPr>
              <a:t>● B 桥梁 20% — 关系+信任+撮合, 串场, 推崇 A, 情感连接 (A 讲解)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0"/>
            <a:ext cx="11247120" cy="9144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333333"/>
                </a:solidFill>
                <a:latin typeface="PingFang SC"/>
              </a:rPr>
              <a:t>所以 B 不要只会讲产品, 核心工作是: ①让客户感觉「这场会面是专门为他准备的」 ②推崇 A 是「为客户量身请来」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000000"/>
                </a:solidFill>
                <a:latin typeface="PingFang SC"/>
              </a:rPr>
              <a:t>见客户前 4 步准备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554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2A4A8C"/>
                </a:solidFill>
                <a:latin typeface="PingFang SC"/>
              </a:rPr>
              <a:t>① 邀约确定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5544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333333"/>
                </a:solidFill>
                <a:latin typeface="PingFang SC"/>
              </a:rPr>
              <a:t>跟客户敲定时间地点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2A4A8C"/>
                </a:solidFill>
                <a:latin typeface="PingFang SC"/>
              </a:rPr>
              <a:t>② 收集资料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5603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333333"/>
                </a:solidFill>
                <a:latin typeface="PingFang SC"/>
              </a:rPr>
              <a:t>客户的家庭/收入/已买保单/痛点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5661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2A4A8C"/>
                </a:solidFill>
                <a:latin typeface="PingFang SC"/>
              </a:rPr>
              <a:t>③ 同步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661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333333"/>
                </a:solidFill>
                <a:latin typeface="PingFang SC"/>
              </a:rPr>
              <a:t>24 小时前发给 A 准备方案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2A4A8C"/>
                </a:solidFill>
                <a:latin typeface="PingFang SC"/>
              </a:rPr>
              <a:t>④ 推崇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5720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333333"/>
                </a:solidFill>
                <a:latin typeface="PingFang SC"/>
              </a:rPr>
              <a:t>「A 是为您的具体情况请来的」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000000"/>
                </a:solidFill>
                <a:latin typeface="PingFang SC"/>
              </a:rPr>
              <a:t>会面座位: A 主位, B+C 同侧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2286000"/>
            <a:ext cx="2286000" cy="1371600"/>
          </a:xfrm>
          <a:prstGeom prst="roundRect">
            <a:avLst/>
          </a:prstGeom>
          <a:solidFill>
            <a:srgbClr val="E5E5E5"/>
          </a:solidFill>
          <a:ln w="38100">
            <a:solidFill>
              <a:srgbClr val="2A4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A4A8C"/>
                </a:solidFill>
                <a:latin typeface="PingFang SC"/>
              </a:rPr>
              <a:t>A 主位</a:t>
            </a:r>
          </a:p>
          <a:p>
            <a:pPr algn="ctr"/>
            <a:r>
              <a:rPr sz="1600" b="1">
                <a:solidFill>
                  <a:srgbClr val="2A4A8C"/>
                </a:solidFill>
                <a:latin typeface="PingFang SC"/>
              </a:rPr>
              <a:t>(讲方案)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114800"/>
            <a:ext cx="2286000" cy="1371600"/>
          </a:xfrm>
          <a:prstGeom prst="roundRect">
            <a:avLst/>
          </a:prstGeom>
          <a:solidFill>
            <a:srgbClr val="E5E5E5"/>
          </a:solidFill>
          <a:ln w="381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333333"/>
                </a:solidFill>
                <a:latin typeface="PingFang SC"/>
              </a:rPr>
              <a:t>B 桥梁</a:t>
            </a:r>
          </a:p>
          <a:p>
            <a:pPr algn="ctr"/>
            <a:r>
              <a:rPr sz="1600" b="1">
                <a:solidFill>
                  <a:srgbClr val="333333"/>
                </a:solidFill>
                <a:latin typeface="PingFang SC"/>
              </a:rPr>
              <a:t>(串场)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4114800"/>
            <a:ext cx="2286000" cy="1371600"/>
          </a:xfrm>
          <a:prstGeom prst="roundRect">
            <a:avLst/>
          </a:prstGeom>
          <a:solidFill>
            <a:srgbClr val="E5E5E5"/>
          </a:solidFill>
          <a:ln w="38100">
            <a:solidFill>
              <a:srgbClr val="A87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A87E2E"/>
                </a:solidFill>
                <a:latin typeface="PingFang SC"/>
              </a:rPr>
              <a:t>C 客户</a:t>
            </a:r>
          </a:p>
          <a:p>
            <a:pPr algn="ctr"/>
            <a:r>
              <a:rPr sz="1600" b="1">
                <a:solidFill>
                  <a:srgbClr val="A87E2E"/>
                </a:solidFill>
                <a:latin typeface="PingFang SC"/>
              </a:rPr>
              <a:t>(决策)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B14E39"/>
                </a:solidFill>
                <a:latin typeface="PingFang SC"/>
              </a:rPr>
              <a:t>⚠️ 4 大死亡陷阱 (做错一次, 客户再也不信你)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828800"/>
            <a:ext cx="2743200" cy="73152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B14E39"/>
                </a:solidFill>
                <a:latin typeface="PingFang SC"/>
              </a:rPr>
              <a:t>抢戏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333333"/>
                </a:solidFill>
                <a:latin typeface="PingFang SC"/>
              </a:rPr>
              <a:t>B 在现场打断 A 的讲解, 自己插话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828800"/>
            <a:ext cx="2743200" cy="73152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828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B14E39"/>
                </a:solidFill>
                <a:latin typeface="PingFang SC"/>
              </a:rPr>
              <a:t>失联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7432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333333"/>
                </a:solidFill>
                <a:latin typeface="PingFang SC"/>
              </a:rPr>
              <a:t>会前没把客户资料同步给 A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828800"/>
            <a:ext cx="2743200" cy="73152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1828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B14E39"/>
                </a:solidFill>
                <a:latin typeface="PingFang SC"/>
              </a:rPr>
              <a:t>借错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27432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333333"/>
                </a:solidFill>
                <a:latin typeface="PingFang SC"/>
              </a:rPr>
              <a:t>A 的专长跟客户需求不匹配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89719" y="1828800"/>
            <a:ext cx="2743200" cy="73152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19" y="1828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B14E39"/>
                </a:solidFill>
                <a:latin typeface="PingFang SC"/>
              </a:rPr>
              <a:t>失陪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19" y="27432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333333"/>
                </a:solidFill>
                <a:latin typeface="PingFang SC"/>
              </a:rPr>
              <a:t>会后无跟进, 同样的错反复犯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029200"/>
            <a:ext cx="11247120" cy="73152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000000"/>
                </a:solidFill>
                <a:latin typeface="PingFang SC"/>
              </a:rPr>
              <a:t>新人记忆口诀: 抢戏 / 失联 / 借错 / 失陪 — 开会前在脑子里过一遍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000000"/>
                </a:solidFill>
                <a:latin typeface="PingFang SC"/>
              </a:rPr>
              <a:t>会后复盘 + 泼冷水的艺术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666666"/>
                </a:solidFill>
                <a:latin typeface="PingFang SC"/>
              </a:rPr>
              <a:t>闭环管理 + 风险对冲, 把单次成功变长期客户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2A4A8C"/>
                </a:solidFill>
                <a:latin typeface="PingFang SC"/>
              </a:rPr>
              <a:t>复盘 4 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500" b="1">
                <a:solidFill>
                  <a:srgbClr val="2A4A8C"/>
                </a:solidFill>
              </a:rPr>
              <a:t>● </a:t>
            </a:r>
            <a:r>
              <a:rPr sz="1500">
                <a:solidFill>
                  <a:srgbClr val="000000"/>
                </a:solidFill>
                <a:latin typeface="PingFang SC"/>
              </a:rPr>
              <a:t>成交点 — 哪句话打动了 C</a:t>
            </a:r>
          </a:p>
          <a:p>
            <a:pPr>
              <a:lnSpc>
                <a:spcPct val="150000"/>
              </a:lnSpc>
            </a:pPr>
            <a:r>
              <a:rPr sz="1500" b="1">
                <a:solidFill>
                  <a:srgbClr val="2A4A8C"/>
                </a:solidFill>
              </a:rPr>
              <a:t>● </a:t>
            </a:r>
            <a:r>
              <a:rPr sz="1500">
                <a:solidFill>
                  <a:srgbClr val="000000"/>
                </a:solidFill>
                <a:latin typeface="PingFang SC"/>
              </a:rPr>
              <a:t>未达标 — 哪里卡住了 C</a:t>
            </a:r>
          </a:p>
          <a:p>
            <a:pPr>
              <a:lnSpc>
                <a:spcPct val="150000"/>
              </a:lnSpc>
            </a:pPr>
            <a:r>
              <a:rPr sz="1500" b="1">
                <a:solidFill>
                  <a:srgbClr val="2A4A8C"/>
                </a:solidFill>
              </a:rPr>
              <a:t>● </a:t>
            </a:r>
            <a:r>
              <a:rPr sz="1500">
                <a:solidFill>
                  <a:srgbClr val="000000"/>
                </a:solidFill>
                <a:latin typeface="PingFang SC"/>
              </a:rPr>
              <a:t>A 反馈 — A 觉得哪些能改进</a:t>
            </a:r>
          </a:p>
          <a:p>
            <a:pPr>
              <a:lnSpc>
                <a:spcPct val="150000"/>
              </a:lnSpc>
            </a:pPr>
            <a:r>
              <a:rPr sz="1500" b="1">
                <a:solidFill>
                  <a:srgbClr val="2A4A8C"/>
                </a:solidFill>
              </a:rPr>
              <a:t>● </a:t>
            </a:r>
            <a:r>
              <a:rPr sz="1500">
                <a:solidFill>
                  <a:srgbClr val="000000"/>
                </a:solidFill>
                <a:latin typeface="PingFang SC"/>
              </a:rPr>
              <a:t>下次切入点 — 下次见 C 聊什么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2A4A8C"/>
                </a:solidFill>
                <a:latin typeface="PingFang SC"/>
              </a:rPr>
              <a:t>目的: 把单次成功 → 标准化经验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B14E39"/>
                </a:solidFill>
                <a:latin typeface="PingFang SC"/>
              </a:rPr>
              <a:t>💧 泼冷水 — 风险控制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300" b="1">
                <a:solidFill>
                  <a:srgbClr val="B14E39"/>
                </a:solidFill>
              </a:rPr>
              <a:t>● </a:t>
            </a:r>
            <a:r>
              <a:rPr sz="1300">
                <a:solidFill>
                  <a:srgbClr val="000000"/>
                </a:solidFill>
                <a:latin typeface="PingFang SC"/>
              </a:rPr>
              <a:t>何时用: 成交关键期 / C 冲动时</a:t>
            </a:r>
          </a:p>
          <a:p>
            <a:pPr>
              <a:lnSpc>
                <a:spcPct val="150000"/>
              </a:lnSpc>
            </a:pPr>
            <a:r>
              <a:rPr sz="1300" b="1">
                <a:solidFill>
                  <a:srgbClr val="B14E39"/>
                </a:solidFill>
              </a:rPr>
              <a:t>● </a:t>
            </a:r>
            <a:r>
              <a:rPr sz="1300">
                <a:solidFill>
                  <a:srgbClr val="000000"/>
                </a:solidFill>
                <a:latin typeface="PingFang SC"/>
              </a:rPr>
              <a:t>谁来做: B 做情感平衡 + A 做风险提示</a:t>
            </a:r>
          </a:p>
          <a:p>
            <a:pPr>
              <a:lnSpc>
                <a:spcPct val="150000"/>
              </a:lnSpc>
            </a:pPr>
            <a:r>
              <a:rPr sz="1300" b="1">
                <a:solidFill>
                  <a:srgbClr val="B14E39"/>
                </a:solidFill>
              </a:rPr>
              <a:t>● </a:t>
            </a:r>
            <a:r>
              <a:rPr sz="1300">
                <a:solidFill>
                  <a:srgbClr val="000000"/>
                </a:solidFill>
                <a:latin typeface="PingFang SC"/>
              </a:rPr>
              <a:t>怎么泼: 告诉 C「不要去到处问, 防不专业的人给反对意见」</a:t>
            </a:r>
          </a:p>
          <a:p>
            <a:pPr>
              <a:lnSpc>
                <a:spcPct val="150000"/>
              </a:lnSpc>
            </a:pPr>
            <a:r>
              <a:rPr sz="1300" b="1">
                <a:solidFill>
                  <a:srgbClr val="B14E39"/>
                </a:solidFill>
              </a:rPr>
              <a:t>● </a:t>
            </a:r>
            <a:r>
              <a:rPr sz="1300">
                <a:solidFill>
                  <a:srgbClr val="000000"/>
                </a:solidFill>
                <a:latin typeface="PingFang SC"/>
              </a:rPr>
              <a:t>为什么不否定: 把 C 留在专业圈, 有问题找 B+A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5029200"/>
            <a:ext cx="5303520" cy="4572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029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B14E39"/>
                </a:solidFill>
                <a:latin typeface="PingFang SC"/>
              </a:rPr>
              <a:t>本质: 对冲不专业意见, 不是冷场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solidFill>
            <a:srgbClr val="A87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000000"/>
                </a:solidFill>
                <a:latin typeface="PingFang SC"/>
              </a:rPr>
              <a:t>复盘是为了下次更准; 泼冷水是为了客户不后悔 — 两者合一 = 长期口碑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000000"/>
                </a:solidFill>
                <a:latin typeface="PingFang SC"/>
              </a:rPr>
              <a:t>跨期拜访 + 长期关系经营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A87E2E"/>
                </a:solidFill>
                <a:latin typeface="PingFang SC"/>
              </a:rPr>
              <a:t>金句: "钱不会走, 人会走 — 把人伺候好"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800" b="1">
                <a:solidFill>
                  <a:srgbClr val="2A4A8C"/>
                </a:solidFill>
              </a:rPr>
              <a:t>● </a:t>
            </a:r>
            <a:r>
              <a:rPr sz="1800">
                <a:solidFill>
                  <a:srgbClr val="000000"/>
                </a:solidFill>
                <a:latin typeface="PingFang SC"/>
              </a:rPr>
              <a:t>节奏: 1-2 周见一次, 给客户消化期, 不让他觉得被骚扰</a:t>
            </a:r>
          </a:p>
          <a:p>
            <a:pPr>
              <a:lnSpc>
                <a:spcPct val="150000"/>
              </a:lnSpc>
            </a:pPr>
            <a:r>
              <a:rPr sz="1800" b="1">
                <a:solidFill>
                  <a:srgbClr val="2A4A8C"/>
                </a:solidFill>
              </a:rPr>
              <a:t>● </a:t>
            </a:r>
            <a:r>
              <a:rPr sz="1800">
                <a:solidFill>
                  <a:srgbClr val="000000"/>
                </a:solidFill>
                <a:latin typeface="PingFang SC"/>
              </a:rPr>
              <a:t>维护: 节日/生日/家庭大事 主动关心</a:t>
            </a:r>
          </a:p>
          <a:p>
            <a:pPr>
              <a:lnSpc>
                <a:spcPct val="150000"/>
              </a:lnSpc>
            </a:pPr>
            <a:r>
              <a:rPr sz="1800" b="1">
                <a:solidFill>
                  <a:srgbClr val="2A4A8C"/>
                </a:solidFill>
              </a:rPr>
              <a:t>● </a:t>
            </a:r>
            <a:r>
              <a:rPr sz="1800">
                <a:solidFill>
                  <a:srgbClr val="000000"/>
                </a:solidFill>
                <a:latin typeface="PingFang SC"/>
              </a:rPr>
              <a:t>社交: 朋友圈互动 (评论/点赞)</a:t>
            </a:r>
          </a:p>
          <a:p>
            <a:pPr>
              <a:lnSpc>
                <a:spcPct val="150000"/>
              </a:lnSpc>
            </a:pPr>
            <a:r>
              <a:rPr sz="1800" b="1">
                <a:solidFill>
                  <a:srgbClr val="2A4A8C"/>
                </a:solidFill>
              </a:rPr>
              <a:t>● </a:t>
            </a:r>
            <a:r>
              <a:rPr sz="1800">
                <a:solidFill>
                  <a:srgbClr val="000000"/>
                </a:solidFill>
                <a:latin typeface="PingFang SC"/>
              </a:rPr>
              <a:t>KPI: 把「客户关系维护」当成 KPI 一部分</a:t>
            </a:r>
          </a:p>
          <a:p>
            <a:pPr>
              <a:lnSpc>
                <a:spcPct val="150000"/>
              </a:lnSpc>
            </a:pPr>
            <a:r>
              <a:rPr sz="1800" b="1">
                <a:solidFill>
                  <a:srgbClr val="2A4A8C"/>
                </a:solidFill>
              </a:rPr>
              <a:t>● </a:t>
            </a:r>
            <a:r>
              <a:rPr sz="1800">
                <a:solidFill>
                  <a:srgbClr val="000000"/>
                </a:solidFill>
                <a:latin typeface="PingFang SC"/>
              </a:rPr>
              <a:t>复购: 长期信任 = 转介绍 + 加保 + 复购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B14E39"/>
                </a:solidFill>
                <a:latin typeface="PingFang SC"/>
              </a:rPr>
              <a:t>新人最容易短视: 没签单 = 失败 → 其实是关系不到位, 需要长期陪跑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000000"/>
                </a:solidFill>
                <a:latin typeface="PingFang SC"/>
              </a:rPr>
              <a:t>老客户加保 — 新产品需要新背书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333333"/>
                </a:solidFill>
                <a:latin typeface="PingFang SC"/>
              </a:rPr>
              <a:t>信任已经在你身上, 但新产品需要新的专业背书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800" b="1">
                <a:solidFill>
                  <a:srgbClr val="2A4A8C"/>
                </a:solidFill>
              </a:rPr>
              <a:t>● </a:t>
            </a:r>
            <a:r>
              <a:rPr sz="1800">
                <a:solidFill>
                  <a:srgbClr val="000000"/>
                </a:solidFill>
                <a:latin typeface="PingFang SC"/>
              </a:rPr>
              <a:t>老客户已有信任 — 借力成本最低</a:t>
            </a:r>
          </a:p>
          <a:p>
            <a:pPr>
              <a:lnSpc>
                <a:spcPct val="150000"/>
              </a:lnSpc>
            </a:pPr>
            <a:r>
              <a:rPr sz="1800" b="1">
                <a:solidFill>
                  <a:srgbClr val="2A4A8C"/>
                </a:solidFill>
              </a:rPr>
              <a:t>● </a:t>
            </a:r>
            <a:r>
              <a:rPr sz="1800">
                <a:solidFill>
                  <a:srgbClr val="000000"/>
                </a:solidFill>
                <a:latin typeface="PingFang SC"/>
              </a:rPr>
              <a:t>新产品不熟悉 — 还是借 A 讲</a:t>
            </a:r>
          </a:p>
          <a:p>
            <a:pPr>
              <a:lnSpc>
                <a:spcPct val="150000"/>
              </a:lnSpc>
            </a:pPr>
            <a:r>
              <a:rPr sz="1800" b="1">
                <a:solidFill>
                  <a:srgbClr val="2A4A8C"/>
                </a:solidFill>
              </a:rPr>
              <a:t>● </a:t>
            </a:r>
            <a:r>
              <a:rPr sz="1800">
                <a:solidFill>
                  <a:srgbClr val="000000"/>
                </a:solidFill>
                <a:latin typeface="PingFang SC"/>
              </a:rPr>
              <a:t>再次推崇 A — 让老客户也体验 A 的专业</a:t>
            </a:r>
          </a:p>
          <a:p>
            <a:pPr>
              <a:lnSpc>
                <a:spcPct val="150000"/>
              </a:lnSpc>
            </a:pPr>
            <a:r>
              <a:rPr sz="1800" b="1">
                <a:solidFill>
                  <a:srgbClr val="2A4A8C"/>
                </a:solidFill>
              </a:rPr>
              <a:t>● </a:t>
            </a:r>
            <a:r>
              <a:rPr sz="1800">
                <a:solidFill>
                  <a:srgbClr val="000000"/>
                </a:solidFill>
                <a:latin typeface="PingFang SC"/>
              </a:rPr>
              <a:t>加保案例 — 转介绍率最高的场景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2A4A8C"/>
                </a:solidFill>
                <a:latin typeface="PingFang SC"/>
              </a:rPr>
              <a:t>金句: "借力不是自己不专业, 而是给客户最专业的体验"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000000"/>
                </a:solidFill>
                <a:latin typeface="PingFang SC"/>
              </a:rPr>
              <a:t>转介绍 — 让客户帮你介绍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800" b="1">
                <a:solidFill>
                  <a:srgbClr val="2A4A8C"/>
                </a:solidFill>
              </a:rPr>
              <a:t>● </a:t>
            </a:r>
            <a:r>
              <a:rPr sz="1800">
                <a:solidFill>
                  <a:srgbClr val="000000"/>
                </a:solidFill>
                <a:latin typeface="PingFang SC"/>
              </a:rPr>
              <a:t>时点: 老客户签单后情绪最高时, 是转介绍最佳窗口</a:t>
            </a:r>
          </a:p>
          <a:p>
            <a:pPr>
              <a:lnSpc>
                <a:spcPct val="150000"/>
              </a:lnSpc>
            </a:pPr>
            <a:r>
              <a:rPr sz="1800" b="1">
                <a:solidFill>
                  <a:srgbClr val="2A4A8C"/>
                </a:solidFill>
              </a:rPr>
              <a:t>● </a:t>
            </a:r>
            <a:r>
              <a:rPr sz="1800">
                <a:solidFill>
                  <a:srgbClr val="000000"/>
                </a:solidFill>
                <a:latin typeface="PingFang SC"/>
              </a:rPr>
              <a:t>话术: 「您身边有朋友也需要这样的方案吗? 我可以提供同样的专业服务」</a:t>
            </a:r>
          </a:p>
          <a:p>
            <a:pPr>
              <a:lnSpc>
                <a:spcPct val="150000"/>
              </a:lnSpc>
            </a:pPr>
            <a:r>
              <a:rPr sz="1800" b="1">
                <a:solidFill>
                  <a:srgbClr val="2A4A8C"/>
                </a:solidFill>
              </a:rPr>
              <a:t>● </a:t>
            </a:r>
            <a:r>
              <a:rPr sz="1800">
                <a:solidFill>
                  <a:srgbClr val="000000"/>
                </a:solidFill>
                <a:latin typeface="PingFang SC"/>
              </a:rPr>
              <a:t>奖励: 转介绍客户成交, 老客户得感谢金 (产品额度 / 服务升级)</a:t>
            </a:r>
          </a:p>
          <a:p>
            <a:pPr>
              <a:lnSpc>
                <a:spcPct val="150000"/>
              </a:lnSpc>
            </a:pPr>
            <a:r>
              <a:rPr sz="1800" b="1">
                <a:solidFill>
                  <a:srgbClr val="2A4A8C"/>
                </a:solidFill>
              </a:rPr>
              <a:t>● </a:t>
            </a:r>
            <a:r>
              <a:rPr sz="1800">
                <a:solidFill>
                  <a:srgbClr val="000000"/>
                </a:solidFill>
                <a:latin typeface="PingFang SC"/>
              </a:rPr>
              <a:t>跟进: 转介绍客户必须 A+B 双备, 不能只用 B 单独跑</a:t>
            </a:r>
          </a:p>
          <a:p>
            <a:pPr>
              <a:lnSpc>
                <a:spcPct val="150000"/>
              </a:lnSpc>
            </a:pPr>
            <a:r>
              <a:rPr sz="1800" b="1">
                <a:solidFill>
                  <a:srgbClr val="2A4A8C"/>
                </a:solidFill>
              </a:rPr>
              <a:t>● </a:t>
            </a:r>
            <a:r>
              <a:rPr sz="1800">
                <a:solidFill>
                  <a:srgbClr val="000000"/>
                </a:solidFill>
                <a:latin typeface="PingFang SC"/>
              </a:rPr>
              <a:t>风险: 转介绍来的客户不认识你, 必须先建立信任再讲方案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A87E2E"/>
                </a:solidFill>
                <a:latin typeface="PingFang SC"/>
              </a:rPr>
              <a:t>转介绍率 = 老客户满意度 × B 主动开口率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000000"/>
                </a:solidFill>
                <a:latin typeface="PingFang SC"/>
              </a:rPr>
              <a:t>4 大金句 — 考试必背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63040"/>
            <a:ext cx="9418320" cy="73152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000000"/>
                </a:solidFill>
                <a:latin typeface="PingFang SC"/>
              </a:rPr>
              <a:t>"B 决定 50%, 不是 A"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331720"/>
            <a:ext cx="9418320" cy="73152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331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000000"/>
                </a:solidFill>
                <a:latin typeface="PingFang SC"/>
              </a:rPr>
              <a:t>"我卖的是解决方案, 不是产品"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000000"/>
                </a:solidFill>
                <a:latin typeface="PingFang SC"/>
              </a:rPr>
              <a:t>"钱不会走, 人会走 — 把人伺候好"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069079"/>
            <a:ext cx="9418320" cy="73152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069079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000000"/>
                </a:solidFill>
                <a:latin typeface="PingFang SC"/>
              </a:rPr>
              <a:t>"借力不费力, 费力不专业"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937760"/>
            <a:ext cx="9418320" cy="73152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9377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000000"/>
                </a:solidFill>
                <a:latin typeface="PingFang SC"/>
              </a:rPr>
              <a:t>"让 C 觉得不是来签单, 是来听课"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000000"/>
                </a:solidFill>
                <a:latin typeface="PingFang SC"/>
              </a:rPr>
              <a:t>现在就去考试 + 收藏知识卡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1247120" cy="54864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2A4A8C"/>
                </a:solidFill>
                <a:latin typeface="PingFang SC"/>
              </a:rPr>
              <a:t>🎯 考试入口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333333"/>
                </a:solidFill>
                <a:latin typeface="PingFang SC"/>
              </a:rPr>
              <a:t>https://kevin89887634.github.io/training-quiz/?course=abc-sales-gold-2026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666666"/>
                </a:solidFill>
                <a:latin typeface="PingFang SC"/>
              </a:rPr>
              <a:t>25 题 · 约 15 分钟 · 通过线 70 分 · 积分计入奖励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A87E2E"/>
                </a:solidFill>
                <a:latin typeface="PingFang SC"/>
              </a:rPr>
              <a:t>📚 配套讲义 + 知识卡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333333"/>
                </a:solidFill>
                <a:latin typeface="PingFang SC"/>
              </a:rPr>
              <a:t>Obsidian Vault: 02_保险知识/培训工具/training-deck-toolkit/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666666"/>
                </a:solidFill>
                <a:latin typeface="PingFang SC"/>
              </a:rPr>
              <a:t>销售沟通 ABC 黄金法则 · v3.0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